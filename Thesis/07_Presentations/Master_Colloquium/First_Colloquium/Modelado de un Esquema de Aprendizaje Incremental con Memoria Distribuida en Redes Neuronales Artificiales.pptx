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9" r:id="rId4"/>
    <p:sldId id="261" r:id="rId5"/>
    <p:sldId id="262" r:id="rId6"/>
    <p:sldId id="275" r:id="rId7"/>
    <p:sldId id="266" r:id="rId8"/>
    <p:sldId id="274" r:id="rId9"/>
    <p:sldId id="269" r:id="rId10"/>
    <p:sldId id="277" r:id="rId11"/>
    <p:sldId id="270" r:id="rId12"/>
    <p:sldId id="276" r:id="rId13"/>
    <p:sldId id="271" r:id="rId14"/>
    <p:sldId id="272" r:id="rId15"/>
    <p:sldId id="273" r:id="rId16"/>
  </p:sldIdLst>
  <p:sldSz cx="10080625" cy="5670550"/>
  <p:notesSz cx="7772400" cy="10058400"/>
  <p:defaultTextStyle>
    <a:defPPr>
      <a:defRPr lang="en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08"/>
    <p:restoredTop sz="94727"/>
  </p:normalViewPr>
  <p:slideViewPr>
    <p:cSldViewPr snapToGrid="0">
      <p:cViewPr varScale="1">
        <p:scale>
          <a:sx n="161" d="100"/>
          <a:sy n="161" d="100"/>
        </p:scale>
        <p:origin x="208" y="10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X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BEF06D-FC33-634B-B721-76142CCAC50A}" type="datetimeFigureOut">
              <a:rPr lang="en-MX" smtClean="0"/>
              <a:t>01/12/25</a:t>
            </a:fld>
            <a:endParaRPr lang="en-MX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69950" y="1257300"/>
            <a:ext cx="603250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X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9FC98F-22EC-DB41-94F5-E1413C8D6324}" type="slidenum">
              <a:rPr lang="en-MX" smtClean="0"/>
              <a:t>‹#›</a:t>
            </a:fld>
            <a:endParaRPr lang="en-MX"/>
          </a:p>
        </p:txBody>
      </p:sp>
    </p:spTree>
    <p:extLst>
      <p:ext uri="{BB962C8B-B14F-4D97-AF65-F5344CB8AC3E}">
        <p14:creationId xmlns:p14="http://schemas.microsoft.com/office/powerpoint/2010/main" val="1033117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X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9FC98F-22EC-DB41-94F5-E1413C8D6324}" type="slidenum">
              <a:rPr lang="en-MX" smtClean="0"/>
              <a:t>3</a:t>
            </a:fld>
            <a:endParaRPr lang="en-MX"/>
          </a:p>
        </p:txBody>
      </p:sp>
    </p:spTree>
    <p:extLst>
      <p:ext uri="{BB962C8B-B14F-4D97-AF65-F5344CB8AC3E}">
        <p14:creationId xmlns:p14="http://schemas.microsoft.com/office/powerpoint/2010/main" val="39183357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733C965C-57F0-4EFA-8330-4D645A53DAC8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s-MX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s-MX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2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E4FF14DA-8214-40E8-B1B6-F43962993D0D}" type="slidenum">
              <a:t>‹#›</a:t>
            </a:fld>
            <a:endParaRPr/>
          </a:p>
        </p:txBody>
      </p:sp>
      <p:sp>
        <p:nvSpPr>
          <p:cNvPr id="3" name="PlaceHolder 5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s-MX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MX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B99B1A2D-D4B6-4047-AD69-D754256AF902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s-MX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MX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MX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6A95F38C-8DB6-43CA-B485-86B3FBAACB3D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s-MX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B993FC5A-F41C-4E11-94C4-8DAB70BC7355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280" cy="4386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s-MX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1207C22F-B5F1-4C30-BCFA-1088E25EF5D9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s-MX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MX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MX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MX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F287825A-E755-484E-9B53-2A67A06ECC53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s-MX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MX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MX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MX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5ABDD420-482A-41AE-9A7A-D40DD99702E0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s-MX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MX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MX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MX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170C2C9B-4B9F-49D1-8EF5-3E6815FE07D4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s-MX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MX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MX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BFCC4EA0-3245-4EA0-AD5D-F3F37F97BBEB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s-MX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MX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MX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MX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MX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5EC06DC0-852D-401A-BF90-458319EFDB19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s-MX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MX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560" y="132660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MX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9120" y="132660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MX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304452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MX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560" y="304452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MX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9120" y="3044520"/>
            <a:ext cx="2921040" cy="156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MX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E5D7CA19-BAB1-4EB4-8CA7-5EA03982EFA2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s-MX" sz="4400" b="0" strike="noStrike" spc="-1">
                <a:solidFill>
                  <a:srgbClr val="000000"/>
                </a:solidFill>
                <a:latin typeface="Arial"/>
              </a:rPr>
              <a:t>Pulse para editar el formato del texto de título</a:t>
            </a:r>
          </a:p>
        </p:txBody>
      </p:sp>
      <p:sp>
        <p:nvSpPr>
          <p:cNvPr id="6" name="PlaceHolder 2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ctr">
              <a:buNone/>
              <a:defRPr lang="es-MX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s-MX" sz="1400" b="0" strike="noStrike" spc="-1">
                <a:latin typeface="Times New Roman"/>
              </a:rPr>
              <a:t>Footer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s-ES" sz="1400" b="0" strike="noStrike" spc="-1">
                <a:solidFill>
                  <a:srgbClr val="000000"/>
                </a:solidFill>
                <a:latin typeface="Times New Roman"/>
                <a:ea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182B3DC-6ABB-4873-B39D-0ECED351596B}" type="slidenum">
              <a:rPr lang="es-ES" sz="1400" b="0" strike="noStrike" spc="-1">
                <a:solidFill>
                  <a:srgbClr val="000000"/>
                </a:solidFill>
                <a:latin typeface="Times New Roman"/>
                <a:ea typeface="Times New Roman"/>
              </a:rPr>
              <a:t>‹#›</a:t>
            </a:fld>
            <a:endParaRPr lang="es-MX" sz="1400" b="0" strike="noStrike" spc="-1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defRPr lang="es-MX" sz="1400" b="0" strike="noStrike" spc="-1">
                <a:latin typeface="Times New Roman"/>
              </a:defRPr>
            </a:lvl1pPr>
          </a:lstStyle>
          <a:p>
            <a:endParaRPr lang="es-MX" sz="1400" b="0" strike="noStrike" spc="-1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MX" sz="1400" b="0" strike="noStrike" spc="-1">
                <a:solidFill>
                  <a:srgbClr val="000000"/>
                </a:solidFill>
                <a:latin typeface="Arial"/>
              </a:rPr>
              <a:t>Pulse para editar el formato de texto del esquema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MX" sz="1400" b="0" strike="noStrike" spc="-1">
                <a:solidFill>
                  <a:srgbClr val="000000"/>
                </a:solidFill>
                <a:latin typeface="Arial"/>
              </a:rPr>
              <a:t>Segundo nivel del esquema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MX" sz="1400" b="0" strike="noStrike" spc="-1">
                <a:solidFill>
                  <a:srgbClr val="000000"/>
                </a:solidFill>
                <a:latin typeface="Arial"/>
              </a:rPr>
              <a:t>Tercer nivel del esquema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MX" sz="1400" b="0" strike="noStrike" spc="-1">
                <a:solidFill>
                  <a:srgbClr val="000000"/>
                </a:solidFill>
                <a:latin typeface="Arial"/>
              </a:rPr>
              <a:t>Cuarto nivel del esquema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MX" sz="2000" b="0" strike="noStrike" spc="-1">
                <a:solidFill>
                  <a:srgbClr val="000000"/>
                </a:solidFill>
                <a:latin typeface="Arial"/>
              </a:rPr>
              <a:t>Quinto nivel del esquema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MX" sz="2000" b="0" strike="noStrike" spc="-1">
                <a:solidFill>
                  <a:srgbClr val="000000"/>
                </a:solidFill>
                <a:latin typeface="Arial"/>
              </a:rPr>
              <a:t>Sexto nivel del esquema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MX" sz="2000" b="0" strike="noStrike" spc="-1">
                <a:solidFill>
                  <a:srgbClr val="000000"/>
                </a:solidFill>
                <a:latin typeface="Arial"/>
              </a:rPr>
              <a:t>Séptimo nivel del esquema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Google Shape;103;p1"/>
          <p:cNvPicPr/>
          <p:nvPr/>
        </p:nvPicPr>
        <p:blipFill>
          <a:blip r:embed="rId2"/>
          <a:stretch/>
        </p:blipFill>
        <p:spPr>
          <a:xfrm>
            <a:off x="559800" y="-1440"/>
            <a:ext cx="5535360" cy="5671080"/>
          </a:xfrm>
          <a:prstGeom prst="rect">
            <a:avLst/>
          </a:prstGeom>
          <a:ln w="0">
            <a:noFill/>
          </a:ln>
        </p:spPr>
      </p:pic>
      <p:pic>
        <p:nvPicPr>
          <p:cNvPr id="42" name="Google Shape;104;p1"/>
          <p:cNvPicPr/>
          <p:nvPr/>
        </p:nvPicPr>
        <p:blipFill>
          <a:blip r:embed="rId3"/>
          <a:stretch/>
        </p:blipFill>
        <p:spPr>
          <a:xfrm>
            <a:off x="-98280" y="910"/>
            <a:ext cx="2709720" cy="5669640"/>
          </a:xfrm>
          <a:prstGeom prst="rect">
            <a:avLst/>
          </a:prstGeom>
          <a:ln w="0">
            <a:noFill/>
          </a:ln>
        </p:spPr>
      </p:pic>
      <p:sp>
        <p:nvSpPr>
          <p:cNvPr id="43" name="Google Shape;105;p1"/>
          <p:cNvSpPr/>
          <p:nvPr/>
        </p:nvSpPr>
        <p:spPr>
          <a:xfrm>
            <a:off x="2517120" y="139680"/>
            <a:ext cx="7626960" cy="1936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MX" b="1" dirty="0"/>
              <a:t>Modelado de un Esquema de Aprendizaje Incremental con Memoria Distribuida en Redes Neuronales Artificiales</a:t>
            </a:r>
            <a:br>
              <a:rPr lang="es-ES" dirty="0"/>
            </a:br>
            <a:endParaRPr lang="es-MX" sz="2400" b="0" strike="noStrike" spc="-1" dirty="0">
              <a:latin typeface="Arial"/>
            </a:endParaRPr>
          </a:p>
        </p:txBody>
      </p:sp>
      <p:sp>
        <p:nvSpPr>
          <p:cNvPr id="44" name="Google Shape;106;p1"/>
          <p:cNvSpPr/>
          <p:nvPr/>
        </p:nvSpPr>
        <p:spPr>
          <a:xfrm>
            <a:off x="2611440" y="1356120"/>
            <a:ext cx="7392960" cy="271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endParaRPr lang="es-MX" sz="22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300" b="0" strike="noStrike" spc="-1" dirty="0">
                <a:solidFill>
                  <a:srgbClr val="000000"/>
                </a:solidFill>
                <a:latin typeface="Calibri"/>
                <a:ea typeface="Calibri"/>
              </a:rPr>
              <a:t>P r e s e n t a</a:t>
            </a:r>
            <a:endParaRPr lang="es-MX" sz="2300" b="0" strike="noStrike" spc="-1" dirty="0">
              <a:latin typeface="Arial"/>
            </a:endParaRPr>
          </a:p>
          <a:p>
            <a:pPr algn="just">
              <a:lnSpc>
                <a:spcPct val="100000"/>
              </a:lnSpc>
              <a:buNone/>
              <a:tabLst>
                <a:tab pos="0" algn="l"/>
              </a:tabLst>
            </a:pPr>
            <a:endParaRPr lang="es-MX" sz="20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endParaRPr lang="es-MX" sz="22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200" spc="-1" dirty="0">
                <a:solidFill>
                  <a:srgbClr val="000000"/>
                </a:solidFill>
                <a:latin typeface="Calibri"/>
                <a:ea typeface="Calibri"/>
              </a:rPr>
              <a:t>Ing</a:t>
            </a:r>
            <a:r>
              <a:rPr lang="es-ES" sz="2200" b="0" strike="noStrike" spc="-1" dirty="0">
                <a:solidFill>
                  <a:srgbClr val="000000"/>
                </a:solidFill>
                <a:latin typeface="Calibri"/>
                <a:ea typeface="Calibri"/>
              </a:rPr>
              <a:t>. González Hernández Luis Ángel</a:t>
            </a:r>
            <a:endParaRPr lang="es-MX" sz="22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endParaRPr lang="es-MX" sz="22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200" b="0" strike="noStrike" spc="-1" dirty="0">
                <a:solidFill>
                  <a:srgbClr val="000000"/>
                </a:solidFill>
                <a:latin typeface="Calibri"/>
                <a:ea typeface="Calibri"/>
              </a:rPr>
              <a:t>Director: Dr. en C.C. Víctor Manuel </a:t>
            </a:r>
            <a:r>
              <a:rPr lang="es-ES" sz="2200" b="0" strike="noStrike" spc="-1" dirty="0" err="1">
                <a:solidFill>
                  <a:srgbClr val="000000"/>
                </a:solidFill>
                <a:latin typeface="Calibri"/>
                <a:ea typeface="Calibri"/>
              </a:rPr>
              <a:t>Landassuri</a:t>
            </a:r>
            <a:r>
              <a:rPr lang="es-ES" sz="2200" b="0" strike="noStrike" spc="-1" dirty="0">
                <a:solidFill>
                  <a:srgbClr val="000000"/>
                </a:solidFill>
                <a:latin typeface="Calibri"/>
                <a:ea typeface="Calibri"/>
              </a:rPr>
              <a:t> Moreno </a:t>
            </a:r>
          </a:p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200" spc="-1" dirty="0">
                <a:solidFill>
                  <a:srgbClr val="000000"/>
                </a:solidFill>
                <a:latin typeface="Calibri"/>
              </a:rPr>
              <a:t>Co-Director: Dr. en C.C. Leandro L. </a:t>
            </a:r>
            <a:r>
              <a:rPr lang="es-ES" sz="2200" spc="-1" dirty="0" err="1">
                <a:solidFill>
                  <a:srgbClr val="000000"/>
                </a:solidFill>
                <a:latin typeface="Calibri"/>
              </a:rPr>
              <a:t>Minku</a:t>
            </a:r>
            <a:endParaRPr lang="es-ES" sz="2200" spc="-1" dirty="0">
              <a:solidFill>
                <a:srgbClr val="000000"/>
              </a:solidFill>
              <a:latin typeface="Calibri"/>
            </a:endParaRPr>
          </a:p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200" b="0" strike="noStrike" spc="-1" dirty="0">
                <a:solidFill>
                  <a:srgbClr val="000000"/>
                </a:solidFill>
                <a:latin typeface="Calibri"/>
              </a:rPr>
              <a:t>Tutora: Dr. </a:t>
            </a:r>
            <a:r>
              <a:rPr lang="es-ES" sz="2200" spc="-1" dirty="0">
                <a:solidFill>
                  <a:srgbClr val="000000"/>
                </a:solidFill>
                <a:latin typeface="Calibri"/>
              </a:rPr>
              <a:t>en C.C Maricela Quintana </a:t>
            </a:r>
            <a:r>
              <a:rPr lang="es-ES" sz="2200" spc="-1" dirty="0" err="1">
                <a:solidFill>
                  <a:srgbClr val="000000"/>
                </a:solidFill>
                <a:latin typeface="Calibri"/>
              </a:rPr>
              <a:t>Lopez</a:t>
            </a:r>
            <a:endParaRPr lang="es-MX" sz="2200" b="0" strike="noStrike" spc="-1" dirty="0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endParaRPr lang="es-MX" sz="2200" b="0" strike="noStrike" spc="-1" dirty="0">
              <a:latin typeface="Arial"/>
            </a:endParaRPr>
          </a:p>
        </p:txBody>
      </p:sp>
      <p:sp>
        <p:nvSpPr>
          <p:cNvPr id="45" name="Google Shape;107;p1"/>
          <p:cNvSpPr/>
          <p:nvPr/>
        </p:nvSpPr>
        <p:spPr>
          <a:xfrm>
            <a:off x="2611440" y="5056200"/>
            <a:ext cx="7468200" cy="60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 fontScale="98000"/>
          </a:bodyPr>
          <a:lstStyle/>
          <a:p>
            <a:pPr algn="ctr">
              <a:lnSpc>
                <a:spcPct val="90000"/>
              </a:lnSpc>
              <a:buNone/>
              <a:tabLst>
                <a:tab pos="0" algn="l"/>
              </a:tabLst>
            </a:pPr>
            <a:endParaRPr lang="es-MX" sz="1800" b="0" strike="noStrike" spc="-1" dirty="0">
              <a:latin typeface="Arial"/>
            </a:endParaRPr>
          </a:p>
          <a:p>
            <a:pPr algn="r">
              <a:lnSpc>
                <a:spcPct val="90000"/>
              </a:lnSpc>
              <a:buNone/>
              <a:tabLst>
                <a:tab pos="0" algn="l"/>
              </a:tabLst>
            </a:pPr>
            <a:r>
              <a:rPr lang="es-ES" sz="1800" b="0" strike="noStrike" spc="-1" dirty="0">
                <a:solidFill>
                  <a:srgbClr val="000000"/>
                </a:solidFill>
                <a:latin typeface="Calibri"/>
                <a:ea typeface="Calibri"/>
              </a:rPr>
              <a:t>Atizapán de Zaragoza, Edo. de Méx. </a:t>
            </a:r>
            <a:r>
              <a:rPr lang="es-ES" spc="-1" dirty="0">
                <a:solidFill>
                  <a:srgbClr val="000000"/>
                </a:solidFill>
                <a:latin typeface="Calibri"/>
                <a:ea typeface="Calibri"/>
              </a:rPr>
              <a:t>2 de Diciembre</a:t>
            </a:r>
            <a:r>
              <a:rPr lang="es-ES" sz="1800" b="0" strike="noStrike" spc="-1" dirty="0">
                <a:solidFill>
                  <a:srgbClr val="000000"/>
                </a:solidFill>
                <a:latin typeface="Calibri"/>
                <a:ea typeface="Calibri"/>
              </a:rPr>
              <a:t> de 2025</a:t>
            </a:r>
            <a:endParaRPr lang="es-MX" sz="1800" b="0" strike="noStrike" spc="-1" dirty="0">
              <a:latin typeface="Arial"/>
            </a:endParaRPr>
          </a:p>
          <a:p>
            <a:pPr algn="ctr">
              <a:lnSpc>
                <a:spcPct val="90000"/>
              </a:lnSpc>
              <a:buNone/>
              <a:tabLst>
                <a:tab pos="0" algn="l"/>
              </a:tabLst>
            </a:pPr>
            <a:endParaRPr lang="es-MX" sz="1800" b="0" strike="noStrike" spc="-1" dirty="0">
              <a:latin typeface="Arial"/>
            </a:endParaRPr>
          </a:p>
        </p:txBody>
      </p:sp>
      <p:sp>
        <p:nvSpPr>
          <p:cNvPr id="46" name="Google Shape;108;p1"/>
          <p:cNvSpPr/>
          <p:nvPr/>
        </p:nvSpPr>
        <p:spPr>
          <a:xfrm>
            <a:off x="2612160" y="4227840"/>
            <a:ext cx="7468200" cy="504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000" b="1" strike="noStrike" spc="-1" dirty="0">
                <a:solidFill>
                  <a:srgbClr val="000000"/>
                </a:solidFill>
                <a:latin typeface="Calibri"/>
                <a:ea typeface="Calibri"/>
              </a:rPr>
              <a:t>Coloquio de Maestría </a:t>
            </a:r>
            <a:endParaRPr lang="es-MX" sz="2000" b="0" strike="noStrike" spc="-1" dirty="0">
              <a:latin typeface="Arial"/>
            </a:endParaRPr>
          </a:p>
        </p:txBody>
      </p:sp>
      <p:pic>
        <p:nvPicPr>
          <p:cNvPr id="47" name="Google Shape;109;p1"/>
          <p:cNvPicPr/>
          <p:nvPr/>
        </p:nvPicPr>
        <p:blipFill>
          <a:blip r:embed="rId4"/>
          <a:stretch/>
        </p:blipFill>
        <p:spPr>
          <a:xfrm>
            <a:off x="538920" y="328680"/>
            <a:ext cx="1434960" cy="946800"/>
          </a:xfrm>
          <a:prstGeom prst="rect">
            <a:avLst/>
          </a:prstGeom>
          <a:ln w="0">
            <a:noFill/>
          </a:ln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52A996-FD11-D820-6AC8-196C5EA4B76D}"/>
              </a:ext>
            </a:extLst>
          </p:cNvPr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B99B1A2D-D4B6-4047-AD69-D754256AF902}" type="slidenum">
              <a:rPr lang="en-MX" smtClean="0"/>
              <a:t>1</a:t>
            </a:fld>
            <a:endParaRPr lang="en-MX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Google Shape;114;p2"/>
          <p:cNvPicPr/>
          <p:nvPr/>
        </p:nvPicPr>
        <p:blipFill>
          <a:blip r:embed="rId2"/>
          <a:stretch/>
        </p:blipFill>
        <p:spPr>
          <a:xfrm>
            <a:off x="360" y="4984200"/>
            <a:ext cx="10079280" cy="685440"/>
          </a:xfrm>
          <a:prstGeom prst="rect">
            <a:avLst/>
          </a:prstGeom>
          <a:ln w="0">
            <a:noFill/>
          </a:ln>
        </p:spPr>
      </p:pic>
      <p:pic>
        <p:nvPicPr>
          <p:cNvPr id="49" name="Google Shape;115;p2"/>
          <p:cNvPicPr/>
          <p:nvPr/>
        </p:nvPicPr>
        <p:blipFill>
          <a:blip r:embed="rId3"/>
          <a:stretch/>
        </p:blipFill>
        <p:spPr>
          <a:xfrm>
            <a:off x="360" y="0"/>
            <a:ext cx="1598400" cy="1484280"/>
          </a:xfrm>
          <a:prstGeom prst="rect">
            <a:avLst/>
          </a:prstGeom>
          <a:ln w="0">
            <a:noFill/>
          </a:ln>
        </p:spPr>
      </p:pic>
      <p:sp>
        <p:nvSpPr>
          <p:cNvPr id="50" name="PlaceHolder 1"/>
          <p:cNvSpPr>
            <a:spLocks noGrp="1"/>
          </p:cNvSpPr>
          <p:nvPr>
            <p:ph type="subTitle"/>
          </p:nvPr>
        </p:nvSpPr>
        <p:spPr>
          <a:xfrm>
            <a:off x="397080" y="1368720"/>
            <a:ext cx="9535320" cy="3550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numCol="2" spcCol="0" anchor="ctr">
            <a:noAutofit/>
          </a:bodyPr>
          <a:lstStyle/>
          <a:p>
            <a:pPr algn="just">
              <a:lnSpc>
                <a:spcPct val="90000"/>
              </a:lnSpc>
            </a:pPr>
            <a:endParaRPr lang="es-MX" sz="2000" b="0" strike="noStrike" spc="-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57200" indent="-457200" algn="just">
              <a:lnSpc>
                <a:spcPct val="90000"/>
              </a:lnSpc>
              <a:buClr>
                <a:srgbClr val="000000"/>
              </a:buClr>
              <a:buFont typeface="+mj-lt"/>
              <a:buAutoNum type="arabicPeriod"/>
            </a:pPr>
            <a:r>
              <a:rPr lang="es-ES" sz="2000" b="0" strike="noStrike" spc="-1" dirty="0">
                <a:solidFill>
                  <a:srgbClr val="000000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</a:rPr>
              <a:t>Planteamiento del problema</a:t>
            </a:r>
            <a:endParaRPr lang="es-MX" sz="2000" b="0" strike="noStrike" spc="-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57200" indent="-457200" algn="just">
              <a:lnSpc>
                <a:spcPct val="90000"/>
              </a:lnSpc>
              <a:buFont typeface="+mj-lt"/>
              <a:buAutoNum type="arabicPeriod"/>
            </a:pPr>
            <a:endParaRPr lang="es-MX" sz="2000" b="0" strike="noStrike" spc="-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57200" indent="-457200" algn="just">
              <a:lnSpc>
                <a:spcPct val="90000"/>
              </a:lnSpc>
              <a:buClr>
                <a:srgbClr val="000000"/>
              </a:buClr>
              <a:buFont typeface="+mj-lt"/>
              <a:buAutoNum type="arabicPeriod"/>
            </a:pPr>
            <a:r>
              <a:rPr lang="es-ES" sz="2000" b="0" strike="noStrike" spc="-1" dirty="0">
                <a:solidFill>
                  <a:srgbClr val="000000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</a:rPr>
              <a:t>Objetivo General</a:t>
            </a:r>
            <a:endParaRPr lang="es-MX" sz="2000" b="0" strike="noStrike" spc="-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57200" indent="-457200" algn="just">
              <a:lnSpc>
                <a:spcPct val="90000"/>
              </a:lnSpc>
              <a:buFont typeface="+mj-lt"/>
              <a:buAutoNum type="arabicPeriod"/>
            </a:pPr>
            <a:endParaRPr lang="es-MX" sz="2000" b="0" strike="noStrike" spc="-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57200" indent="-457200" algn="just">
              <a:lnSpc>
                <a:spcPct val="90000"/>
              </a:lnSpc>
              <a:buClr>
                <a:srgbClr val="000000"/>
              </a:buClr>
              <a:buFont typeface="+mj-lt"/>
              <a:buAutoNum type="arabicPeriod"/>
            </a:pPr>
            <a:r>
              <a:rPr lang="es-ES" sz="2000" b="0" strike="noStrike" spc="-1" dirty="0">
                <a:solidFill>
                  <a:srgbClr val="000000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</a:rPr>
              <a:t>Hipótesis </a:t>
            </a:r>
            <a:endParaRPr lang="es-ES" sz="2000" spc="-1" dirty="0">
              <a:solidFill>
                <a:srgbClr val="000000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</a:endParaRPr>
          </a:p>
          <a:p>
            <a:pPr marL="457200" indent="-457200" algn="just">
              <a:lnSpc>
                <a:spcPct val="90000"/>
              </a:lnSpc>
              <a:buClr>
                <a:srgbClr val="000000"/>
              </a:buClr>
              <a:buFont typeface="+mj-lt"/>
              <a:buAutoNum type="arabicPeriod"/>
            </a:pPr>
            <a:endParaRPr lang="es-ES" sz="2000" spc="-1" dirty="0">
              <a:solidFill>
                <a:srgbClr val="000000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</a:endParaRPr>
          </a:p>
          <a:p>
            <a:pPr marL="457200" indent="-457200" algn="just">
              <a:buClr>
                <a:srgbClr val="000000"/>
              </a:buClr>
              <a:buFont typeface="+mj-lt"/>
              <a:buAutoNum type="arabicPeriod"/>
            </a:pPr>
            <a:r>
              <a:rPr lang="es-ES" sz="2000" spc="-1" dirty="0">
                <a:solidFill>
                  <a:srgbClr val="000000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</a:rPr>
              <a:t>Justificación</a:t>
            </a:r>
            <a:endParaRPr lang="es-MX" sz="2000" spc="-1" dirty="0">
              <a:solidFill>
                <a:srgbClr val="000000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</a:endParaRPr>
          </a:p>
          <a:p>
            <a:pPr marL="457200" indent="-457200" algn="just">
              <a:lnSpc>
                <a:spcPct val="90000"/>
              </a:lnSpc>
              <a:buClr>
                <a:srgbClr val="000000"/>
              </a:buClr>
              <a:buFont typeface="+mj-lt"/>
              <a:buAutoNum type="arabicPeriod"/>
            </a:pPr>
            <a:endParaRPr lang="es-MX" sz="2000" b="0" strike="noStrike" spc="-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57200" indent="-457200" algn="just">
              <a:lnSpc>
                <a:spcPct val="90000"/>
              </a:lnSpc>
              <a:buClr>
                <a:srgbClr val="000000"/>
              </a:buClr>
              <a:buFont typeface="+mj-lt"/>
              <a:buAutoNum type="arabicPeriod"/>
            </a:pPr>
            <a:r>
              <a:rPr lang="es-ES" sz="2000" b="0" strike="noStrike" spc="-1" dirty="0">
                <a:solidFill>
                  <a:srgbClr val="000000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</a:rPr>
              <a:t>Redes Neuronales Artificiales</a:t>
            </a:r>
            <a:endParaRPr lang="es-MX" sz="2000" b="0" strike="noStrike" spc="-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57200" indent="-457200" algn="just">
              <a:lnSpc>
                <a:spcPct val="90000"/>
              </a:lnSpc>
              <a:buClr>
                <a:srgbClr val="000000"/>
              </a:buClr>
              <a:buFont typeface="+mj-lt"/>
              <a:buAutoNum type="arabicPeriod"/>
            </a:pPr>
            <a:endParaRPr lang="es-ES" sz="2000" b="0" strike="noStrike" spc="-1" dirty="0">
              <a:solidFill>
                <a:srgbClr val="000000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</a:endParaRPr>
          </a:p>
          <a:p>
            <a:pPr marL="457200" indent="-457200" algn="just">
              <a:lnSpc>
                <a:spcPct val="90000"/>
              </a:lnSpc>
              <a:buClr>
                <a:srgbClr val="000000"/>
              </a:buClr>
              <a:buFont typeface="+mj-lt"/>
              <a:buAutoNum type="arabicPeriod"/>
            </a:pPr>
            <a:r>
              <a:rPr lang="es-ES" sz="2000" spc="-1" dirty="0" err="1">
                <a:solidFill>
                  <a:srgbClr val="000000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</a:rPr>
              <a:t>Backpropagation</a:t>
            </a:r>
            <a:endParaRPr lang="es-ES" sz="2000" spc="-1" dirty="0">
              <a:solidFill>
                <a:srgbClr val="000000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</a:endParaRPr>
          </a:p>
          <a:p>
            <a:pPr marL="457200" indent="-457200" algn="just">
              <a:lnSpc>
                <a:spcPct val="90000"/>
              </a:lnSpc>
              <a:buClr>
                <a:srgbClr val="000000"/>
              </a:buClr>
              <a:buFont typeface="+mj-lt"/>
              <a:buAutoNum type="arabicPeriod"/>
            </a:pPr>
            <a:endParaRPr lang="es-ES" sz="2000" spc="-1" dirty="0">
              <a:solidFill>
                <a:srgbClr val="000000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</a:endParaRPr>
          </a:p>
          <a:p>
            <a:pPr marL="457200" indent="-457200" algn="just">
              <a:lnSpc>
                <a:spcPct val="90000"/>
              </a:lnSpc>
              <a:buClr>
                <a:srgbClr val="000000"/>
              </a:buClr>
              <a:buFont typeface="+mj-lt"/>
              <a:buAutoNum type="arabicPeriod"/>
            </a:pPr>
            <a:r>
              <a:rPr lang="es-ES" sz="2000" b="0" strike="noStrike" spc="-1" dirty="0">
                <a:solidFill>
                  <a:srgbClr val="000000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</a:rPr>
              <a:t>Aprendizaje Incremental</a:t>
            </a:r>
          </a:p>
          <a:p>
            <a:pPr marL="457200" indent="-457200" algn="just">
              <a:lnSpc>
                <a:spcPct val="90000"/>
              </a:lnSpc>
              <a:buClr>
                <a:srgbClr val="000000"/>
              </a:buClr>
              <a:buFont typeface="+mj-lt"/>
              <a:buAutoNum type="arabicPeriod"/>
            </a:pPr>
            <a:endParaRPr lang="es-ES" sz="2000" spc="-1" dirty="0">
              <a:solidFill>
                <a:srgbClr val="000000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</a:endParaRPr>
          </a:p>
          <a:p>
            <a:pPr marL="457200" indent="-457200" algn="just">
              <a:buClr>
                <a:srgbClr val="000000"/>
              </a:buClr>
              <a:buFont typeface="+mj-lt"/>
              <a:buAutoNum type="arabicPeriod"/>
            </a:pPr>
            <a:r>
              <a:rPr lang="en-US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Arquitectura</a:t>
            </a:r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 de </a:t>
            </a:r>
            <a:r>
              <a:rPr lang="en-US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referencia</a:t>
            </a:r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 para </a:t>
            </a:r>
            <a:r>
              <a:rPr lang="en-US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el</a:t>
            </a:r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esquema</a:t>
            </a:r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 incremental</a:t>
            </a:r>
            <a:endParaRPr lang="es-MX" sz="2000" spc="-1" dirty="0">
              <a:solidFill>
                <a:srgbClr val="000000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</a:endParaRPr>
          </a:p>
          <a:p>
            <a:pPr marL="457200" indent="-457200" algn="just">
              <a:lnSpc>
                <a:spcPct val="90000"/>
              </a:lnSpc>
              <a:buClr>
                <a:srgbClr val="000000"/>
              </a:buClr>
              <a:buFont typeface="+mj-lt"/>
              <a:buAutoNum type="arabicPeriod"/>
            </a:pPr>
            <a:endParaRPr lang="es-MX" sz="2000" b="0" strike="noStrike" spc="-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57200" indent="-457200" algn="just">
              <a:lnSpc>
                <a:spcPct val="90000"/>
              </a:lnSpc>
              <a:buClr>
                <a:srgbClr val="000000"/>
              </a:buClr>
              <a:buFont typeface="+mj-lt"/>
              <a:buAutoNum type="arabicPeriod"/>
            </a:pPr>
            <a:r>
              <a:rPr lang="es-ES" sz="2000" b="0" strike="noStrike" spc="-1" dirty="0">
                <a:solidFill>
                  <a:srgbClr val="000000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</a:rPr>
              <a:t>Metodología</a:t>
            </a:r>
          </a:p>
          <a:p>
            <a:pPr marL="457200" indent="-457200" algn="just">
              <a:lnSpc>
                <a:spcPct val="90000"/>
              </a:lnSpc>
              <a:buClr>
                <a:srgbClr val="000000"/>
              </a:buClr>
              <a:buFont typeface="+mj-lt"/>
              <a:buAutoNum type="arabicPeriod"/>
            </a:pPr>
            <a:endParaRPr lang="es-ES" sz="2000" spc="-1" dirty="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57200" indent="-457200" algn="just">
              <a:buClr>
                <a:srgbClr val="000000"/>
              </a:buClr>
              <a:buFont typeface="+mj-lt"/>
              <a:buAutoNum type="arabicPeriod"/>
            </a:pPr>
            <a:r>
              <a:rPr lang="en-US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Resultados</a:t>
            </a:r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 de la </a:t>
            </a:r>
            <a:r>
              <a:rPr lang="en-US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Réplica</a:t>
            </a:r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 del Modelo de </a:t>
            </a:r>
            <a:r>
              <a:rPr lang="en-US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Bullinaria</a:t>
            </a:r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PyTorch</a:t>
            </a:r>
            <a:endParaRPr lang="es-MX" sz="2000" b="0" strike="noStrike" spc="-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57200" indent="-457200" algn="just">
              <a:lnSpc>
                <a:spcPct val="90000"/>
              </a:lnSpc>
              <a:buFont typeface="+mj-lt"/>
              <a:buAutoNum type="arabicPeriod"/>
            </a:pPr>
            <a:endParaRPr lang="es-MX" sz="2000" b="0" strike="noStrike" spc="-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57200" indent="-457200" algn="just">
              <a:lnSpc>
                <a:spcPct val="90000"/>
              </a:lnSpc>
              <a:buClr>
                <a:srgbClr val="000000"/>
              </a:buClr>
              <a:buFont typeface="+mj-lt"/>
              <a:buAutoNum type="arabicPeriod"/>
            </a:pPr>
            <a:r>
              <a:rPr lang="es-ES" sz="2000" b="0" strike="noStrike" spc="-1" dirty="0">
                <a:solidFill>
                  <a:srgbClr val="000000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</a:rPr>
              <a:t>Cronograma de Actividades</a:t>
            </a:r>
            <a:endParaRPr lang="es-MX" sz="2000" b="0" strike="noStrike" spc="-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lnSpc>
                <a:spcPct val="90000"/>
              </a:lnSpc>
              <a:buNone/>
              <a:tabLst>
                <a:tab pos="0" algn="l"/>
              </a:tabLst>
            </a:pPr>
            <a:r>
              <a:rPr lang="es-ES" sz="2600" b="1" strike="noStrike" spc="-1" dirty="0">
                <a:solidFill>
                  <a:srgbClr val="000000"/>
                </a:solidFill>
                <a:latin typeface="Calibri"/>
                <a:ea typeface="Calibri"/>
              </a:rPr>
              <a:t>Contenido</a:t>
            </a:r>
            <a:endParaRPr lang="es-MX" sz="26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DCBCF2D-A0E2-0A74-7141-A4202BCE52C1}"/>
              </a:ext>
            </a:extLst>
          </p:cNvPr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B99B1A2D-D4B6-4047-AD69-D754256AF902}" type="slidenum">
              <a:rPr lang="en-MX" smtClean="0"/>
              <a:t>2</a:t>
            </a:fld>
            <a:endParaRPr lang="en-MX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subTitle"/>
          </p:nvPr>
        </p:nvSpPr>
        <p:spPr>
          <a:xfrm>
            <a:off x="1203767" y="1799640"/>
            <a:ext cx="7920073" cy="264503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343080" indent="-343080" algn="just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es-ES" sz="2400" b="0" strike="noStrike" spc="-1" dirty="0">
                <a:solidFill>
                  <a:srgbClr val="000000"/>
                </a:solidFill>
                <a:latin typeface="Calibri"/>
                <a:ea typeface="Calibri"/>
              </a:rPr>
              <a:t>El aprendizaje incremental </a:t>
            </a:r>
            <a:endParaRPr lang="es-MX" sz="2400" b="0" strike="noStrike" spc="-1" dirty="0">
              <a:latin typeface="Arial"/>
            </a:endParaRPr>
          </a:p>
          <a:p>
            <a:pPr marL="343080" indent="-343080" algn="just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es-ES" sz="2400" b="0" strike="noStrike" spc="-1" dirty="0">
                <a:solidFill>
                  <a:srgbClr val="000000"/>
                </a:solidFill>
                <a:latin typeface="Calibri"/>
                <a:ea typeface="Calibri"/>
              </a:rPr>
              <a:t>Memoria a corto plazo </a:t>
            </a:r>
            <a:endParaRPr lang="es-MX" sz="2400" b="0" strike="noStrike" spc="-1" dirty="0">
              <a:latin typeface="Arial"/>
            </a:endParaRPr>
          </a:p>
          <a:p>
            <a:pPr algn="just">
              <a:lnSpc>
                <a:spcPct val="90000"/>
              </a:lnSpc>
              <a:buNone/>
              <a:tabLst>
                <a:tab pos="0" algn="l"/>
              </a:tabLst>
            </a:pPr>
            <a:r>
              <a:rPr lang="es-ES" sz="2400" b="0" strike="noStrike" spc="-1" dirty="0">
                <a:solidFill>
                  <a:srgbClr val="000000"/>
                </a:solidFill>
                <a:latin typeface="Calibri"/>
                <a:ea typeface="Calibri"/>
              </a:rPr>
              <a:t>		- Tasa de aprendizaje alta</a:t>
            </a:r>
            <a:endParaRPr lang="es-MX" sz="2400" b="0" strike="noStrike" spc="-1" dirty="0">
              <a:latin typeface="Arial"/>
            </a:endParaRPr>
          </a:p>
          <a:p>
            <a:pPr marL="343080" indent="-343080" algn="just">
              <a:lnSpc>
                <a:spcPct val="9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ES" sz="2400" b="0" strike="noStrike" spc="-1" dirty="0">
                <a:solidFill>
                  <a:srgbClr val="000000"/>
                </a:solidFill>
                <a:latin typeface="Calibri"/>
                <a:ea typeface="Calibri"/>
              </a:rPr>
              <a:t>Memoria a largo plazo</a:t>
            </a:r>
            <a:endParaRPr lang="es-MX" sz="2400" b="0" strike="noStrike" spc="-1" dirty="0">
              <a:latin typeface="Arial"/>
            </a:endParaRPr>
          </a:p>
          <a:p>
            <a:pPr algn="just">
              <a:lnSpc>
                <a:spcPct val="90000"/>
              </a:lnSpc>
              <a:buNone/>
              <a:tabLst>
                <a:tab pos="0" algn="l"/>
              </a:tabLst>
            </a:pPr>
            <a:r>
              <a:rPr lang="es-ES" sz="2400" b="0" strike="noStrike" spc="-1" dirty="0">
                <a:solidFill>
                  <a:srgbClr val="000000"/>
                </a:solidFill>
                <a:latin typeface="Calibri"/>
                <a:ea typeface="Calibri"/>
              </a:rPr>
              <a:t>		- Tasa de aprendizaje pequeña</a:t>
            </a:r>
            <a:endParaRPr lang="es-MX" sz="2400" b="0" strike="noStrike" spc="-1" dirty="0">
              <a:latin typeface="Arial"/>
            </a:endParaRPr>
          </a:p>
          <a:p>
            <a:pPr algn="just">
              <a:lnSpc>
                <a:spcPct val="90000"/>
              </a:lnSpc>
              <a:buNone/>
              <a:tabLst>
                <a:tab pos="0" algn="l"/>
              </a:tabLst>
            </a:pPr>
            <a:endParaRPr lang="es-MX" sz="2400" b="0" strike="noStrike" spc="-1" dirty="0">
              <a:latin typeface="Arial"/>
            </a:endParaRPr>
          </a:p>
          <a:p>
            <a:pPr algn="just">
              <a:lnSpc>
                <a:spcPct val="90000"/>
              </a:lnSpc>
              <a:buNone/>
              <a:tabLst>
                <a:tab pos="0" algn="l"/>
              </a:tabLst>
            </a:pPr>
            <a:r>
              <a:rPr lang="es-ES" sz="2400" b="0" strike="noStrike" spc="-1" dirty="0">
                <a:solidFill>
                  <a:srgbClr val="000000"/>
                </a:solidFill>
                <a:latin typeface="Calibri"/>
                <a:ea typeface="Calibri"/>
              </a:rPr>
              <a:t>Trabajo previo (</a:t>
            </a:r>
            <a:r>
              <a:rPr lang="es-ES" sz="2400" b="0" strike="noStrike" spc="-1" dirty="0" err="1">
                <a:solidFill>
                  <a:srgbClr val="000000"/>
                </a:solidFill>
                <a:latin typeface="Calibri"/>
                <a:ea typeface="Calibri"/>
              </a:rPr>
              <a:t>Bullinaria</a:t>
            </a:r>
            <a:r>
              <a:rPr lang="es-ES" sz="2400" b="0" strike="noStrike" spc="-1" dirty="0">
                <a:solidFill>
                  <a:srgbClr val="000000"/>
                </a:solidFill>
                <a:latin typeface="Calibri"/>
                <a:ea typeface="Calibri"/>
              </a:rPr>
              <a:t> 2009) se implementó el uso de duplicar los pesos, pero aún existe perdida de datos</a:t>
            </a:r>
            <a:endParaRPr lang="es-MX" sz="2400" b="0" strike="noStrike" spc="-1" dirty="0">
              <a:latin typeface="Arial"/>
            </a:endParaRPr>
          </a:p>
        </p:txBody>
      </p:sp>
      <p:pic>
        <p:nvPicPr>
          <p:cNvPr id="59" name="Google Shape;133;p4"/>
          <p:cNvPicPr/>
          <p:nvPr/>
        </p:nvPicPr>
        <p:blipFill>
          <a:blip r:embed="rId3"/>
          <a:stretch/>
        </p:blipFill>
        <p:spPr>
          <a:xfrm>
            <a:off x="360" y="4984200"/>
            <a:ext cx="10079280" cy="685440"/>
          </a:xfrm>
          <a:prstGeom prst="rect">
            <a:avLst/>
          </a:prstGeom>
          <a:ln w="0">
            <a:noFill/>
          </a:ln>
        </p:spPr>
      </p:pic>
      <p:pic>
        <p:nvPicPr>
          <p:cNvPr id="60" name="Google Shape;134;p4"/>
          <p:cNvPicPr/>
          <p:nvPr/>
        </p:nvPicPr>
        <p:blipFill>
          <a:blip r:embed="rId4"/>
          <a:stretch/>
        </p:blipFill>
        <p:spPr>
          <a:xfrm>
            <a:off x="360" y="0"/>
            <a:ext cx="1598400" cy="1484280"/>
          </a:xfrm>
          <a:prstGeom prst="rect">
            <a:avLst/>
          </a:prstGeom>
          <a:ln w="0">
            <a:noFill/>
          </a:ln>
        </p:spPr>
      </p:pic>
      <p:sp>
        <p:nvSpPr>
          <p:cNvPr id="61" name="PlaceHolder 2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lnSpc>
                <a:spcPct val="90000"/>
              </a:lnSpc>
              <a:buNone/>
              <a:tabLst>
                <a:tab pos="0" algn="l"/>
              </a:tabLst>
            </a:pPr>
            <a:r>
              <a:rPr lang="es-ES" sz="2600" b="1" strike="noStrike" spc="-1" dirty="0">
                <a:solidFill>
                  <a:srgbClr val="000000"/>
                </a:solidFill>
                <a:latin typeface="Calibri"/>
                <a:ea typeface="Calibri"/>
              </a:rPr>
              <a:t>Planteamiento del Problema</a:t>
            </a:r>
            <a:endParaRPr lang="es-MX" sz="26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4B92637-3992-4937-D1C7-5911BEF6AA46}"/>
              </a:ext>
            </a:extLst>
          </p:cNvPr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B99B1A2D-D4B6-4047-AD69-D754256AF902}" type="slidenum">
              <a:rPr lang="en-MX" smtClean="0"/>
              <a:t>3</a:t>
            </a:fld>
            <a:endParaRPr lang="en-MX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141;p5"/>
          <p:cNvPicPr/>
          <p:nvPr/>
        </p:nvPicPr>
        <p:blipFill>
          <a:blip r:embed="rId2"/>
          <a:stretch/>
        </p:blipFill>
        <p:spPr>
          <a:xfrm>
            <a:off x="360" y="4984200"/>
            <a:ext cx="10079280" cy="685440"/>
          </a:xfrm>
          <a:prstGeom prst="rect">
            <a:avLst/>
          </a:prstGeom>
          <a:ln w="0">
            <a:noFill/>
          </a:ln>
        </p:spPr>
      </p:pic>
      <p:pic>
        <p:nvPicPr>
          <p:cNvPr id="72" name="Google Shape;142;p5"/>
          <p:cNvPicPr/>
          <p:nvPr/>
        </p:nvPicPr>
        <p:blipFill>
          <a:blip r:embed="rId3"/>
          <a:stretch/>
        </p:blipFill>
        <p:spPr>
          <a:xfrm>
            <a:off x="360" y="0"/>
            <a:ext cx="1598400" cy="1484280"/>
          </a:xfrm>
          <a:prstGeom prst="rect">
            <a:avLst/>
          </a:prstGeom>
          <a:ln w="0">
            <a:noFill/>
          </a:ln>
        </p:spPr>
      </p:pic>
      <p:sp>
        <p:nvSpPr>
          <p:cNvPr id="73" name="Google Shape;143;p5"/>
          <p:cNvSpPr/>
          <p:nvPr/>
        </p:nvSpPr>
        <p:spPr>
          <a:xfrm>
            <a:off x="1581120" y="455760"/>
            <a:ext cx="8248320" cy="415498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600" b="1" strike="noStrike" spc="-1" dirty="0">
                <a:solidFill>
                  <a:srgbClr val="000000"/>
                </a:solidFill>
                <a:latin typeface="Calibri"/>
                <a:ea typeface="Calibri"/>
              </a:rPr>
              <a:t>Objetivo General </a:t>
            </a:r>
            <a:endParaRPr lang="es-MX" sz="2600" b="0" strike="noStrike" spc="-1" dirty="0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endParaRPr lang="es-MX" sz="1500" b="0" strike="noStrike" spc="-1" dirty="0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400" b="0" strike="noStrike" spc="-1" dirty="0">
                <a:solidFill>
                  <a:srgbClr val="000000"/>
                </a:solidFill>
                <a:latin typeface="Calibri"/>
                <a:ea typeface="Calibri"/>
              </a:rPr>
              <a:t>Diseñar una red neuronal artificial para aprendizaje incremental basada en el principio de la memoria a corto y largo plazo usando mas de dos matrices de pesos. </a:t>
            </a:r>
            <a:endParaRPr lang="es-MX" sz="2400" b="0" strike="noStrike" spc="-1" dirty="0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endParaRPr lang="es-MX" sz="1400" b="0" strike="noStrike" spc="-1" dirty="0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600" b="1" strike="noStrike" spc="-1" dirty="0">
                <a:solidFill>
                  <a:srgbClr val="000000"/>
                </a:solidFill>
                <a:latin typeface="Calibri"/>
                <a:ea typeface="Calibri"/>
              </a:rPr>
              <a:t>Objetivo Particulares </a:t>
            </a:r>
            <a:endParaRPr lang="es-MX" sz="2600" b="0" strike="noStrike" spc="-1" dirty="0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endParaRPr lang="es-MX" sz="1500" b="0" strike="noStrike" spc="-1" dirty="0"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ES" sz="2400" b="0" strike="noStrike" spc="-1" dirty="0">
                <a:solidFill>
                  <a:srgbClr val="000000"/>
                </a:solidFill>
                <a:latin typeface="Calibri"/>
                <a:ea typeface="Calibri"/>
              </a:rPr>
              <a:t>Implementar el algoritmo mostrado en (</a:t>
            </a:r>
            <a:r>
              <a:rPr lang="es-ES" sz="2400" b="0" strike="noStrike" spc="-1" dirty="0" err="1">
                <a:solidFill>
                  <a:srgbClr val="000000"/>
                </a:solidFill>
                <a:latin typeface="Calibri"/>
                <a:ea typeface="Calibri"/>
              </a:rPr>
              <a:t>Bullinaria</a:t>
            </a:r>
            <a:r>
              <a:rPr lang="es-ES" sz="2400" b="0" strike="noStrike" spc="-1" dirty="0">
                <a:solidFill>
                  <a:srgbClr val="000000"/>
                </a:solidFill>
                <a:latin typeface="Calibri"/>
                <a:ea typeface="Calibri"/>
              </a:rPr>
              <a:t>, 2009)</a:t>
            </a:r>
            <a:endParaRPr lang="es-MX" sz="2400" b="0" strike="noStrike" spc="-1" dirty="0"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ES" sz="2400" b="0" strike="noStrike" spc="-1" dirty="0">
                <a:solidFill>
                  <a:srgbClr val="000000"/>
                </a:solidFill>
                <a:latin typeface="Calibri"/>
                <a:ea typeface="Calibri"/>
              </a:rPr>
              <a:t>Separar el conjunto de entrenamiento y de prueba</a:t>
            </a:r>
            <a:endParaRPr lang="es-MX" sz="2400" b="0" strike="noStrike" spc="-1" dirty="0"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ES" sz="2400" b="0" strike="noStrike" spc="-1" dirty="0">
                <a:solidFill>
                  <a:srgbClr val="000000"/>
                </a:solidFill>
                <a:latin typeface="Calibri"/>
                <a:ea typeface="Calibri"/>
              </a:rPr>
              <a:t>Tomar como base el algoritmo implementado y extenderlo</a:t>
            </a:r>
            <a:endParaRPr lang="es-MX" sz="2400" b="0" strike="noStrike" spc="-1" dirty="0"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ES" sz="2400" b="0" strike="noStrike" spc="-1" dirty="0">
                <a:solidFill>
                  <a:srgbClr val="000000"/>
                </a:solidFill>
                <a:latin typeface="Calibri"/>
                <a:ea typeface="Calibri"/>
              </a:rPr>
              <a:t>Comparar ambas implementaciones</a:t>
            </a:r>
            <a:endParaRPr lang="es-MX" sz="2400" b="0" strike="noStrike" spc="-1" dirty="0">
              <a:latin typeface="Arial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15AABF6-C426-A1C7-90F0-25F6484F8C98}"/>
              </a:ext>
            </a:extLst>
          </p:cNvPr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B99B1A2D-D4B6-4047-AD69-D754256AF902}" type="slidenum">
              <a:rPr lang="en-MX" smtClean="0"/>
              <a:t>4</a:t>
            </a:fld>
            <a:endParaRPr lang="en-MX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149;p6"/>
          <p:cNvPicPr/>
          <p:nvPr/>
        </p:nvPicPr>
        <p:blipFill>
          <a:blip r:embed="rId2"/>
          <a:stretch/>
        </p:blipFill>
        <p:spPr>
          <a:xfrm>
            <a:off x="360" y="4984200"/>
            <a:ext cx="10079280" cy="685440"/>
          </a:xfrm>
          <a:prstGeom prst="rect">
            <a:avLst/>
          </a:prstGeom>
          <a:ln w="0">
            <a:noFill/>
          </a:ln>
        </p:spPr>
      </p:pic>
      <p:pic>
        <p:nvPicPr>
          <p:cNvPr id="76" name="Google Shape;150;p6"/>
          <p:cNvPicPr/>
          <p:nvPr/>
        </p:nvPicPr>
        <p:blipFill>
          <a:blip r:embed="rId3"/>
          <a:stretch/>
        </p:blipFill>
        <p:spPr>
          <a:xfrm>
            <a:off x="360" y="0"/>
            <a:ext cx="1598400" cy="1484280"/>
          </a:xfrm>
          <a:prstGeom prst="rect">
            <a:avLst/>
          </a:prstGeom>
          <a:ln w="0">
            <a:noFill/>
          </a:ln>
        </p:spPr>
      </p:pic>
      <p:sp>
        <p:nvSpPr>
          <p:cNvPr id="77" name="Google Shape;151;p6"/>
          <p:cNvSpPr/>
          <p:nvPr/>
        </p:nvSpPr>
        <p:spPr>
          <a:xfrm>
            <a:off x="1986120" y="402840"/>
            <a:ext cx="6107760" cy="678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600" b="1" strike="noStrike" spc="-1" dirty="0">
                <a:solidFill>
                  <a:srgbClr val="000000"/>
                </a:solidFill>
                <a:latin typeface="Calibri"/>
                <a:ea typeface="Calibri"/>
              </a:rPr>
              <a:t>Hipótesis </a:t>
            </a:r>
            <a:endParaRPr lang="es-MX" sz="2600" b="0" strike="noStrike" spc="-1" dirty="0">
              <a:latin typeface="Arial"/>
            </a:endParaRPr>
          </a:p>
        </p:txBody>
      </p:sp>
      <p:sp>
        <p:nvSpPr>
          <p:cNvPr id="78" name="Google Shape;152;p6"/>
          <p:cNvSpPr/>
          <p:nvPr/>
        </p:nvSpPr>
        <p:spPr>
          <a:xfrm>
            <a:off x="1040186" y="1186160"/>
            <a:ext cx="8549087" cy="147732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anchor="t">
            <a:spAutoFit/>
          </a:bodyPr>
          <a:lstStyle/>
          <a:p>
            <a:r>
              <a:rPr lang="en-US" dirty="0"/>
              <a:t>La </a:t>
            </a:r>
            <a:r>
              <a:rPr lang="en-US" dirty="0" err="1"/>
              <a:t>incorporación</a:t>
            </a:r>
            <a:r>
              <a:rPr lang="en-US" dirty="0"/>
              <a:t> de </a:t>
            </a:r>
            <a:r>
              <a:rPr lang="en-US" dirty="0" err="1"/>
              <a:t>memorias</a:t>
            </a:r>
            <a:r>
              <a:rPr lang="en-US" dirty="0"/>
              <a:t> </a:t>
            </a:r>
            <a:r>
              <a:rPr lang="en-US" dirty="0" err="1"/>
              <a:t>duplicadas</a:t>
            </a:r>
            <a:r>
              <a:rPr lang="en-US" dirty="0"/>
              <a:t> </a:t>
            </a:r>
            <a:r>
              <a:rPr lang="en-US" dirty="0" err="1"/>
              <a:t>adicionales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arquitectura</a:t>
            </a:r>
            <a:r>
              <a:rPr lang="en-US" dirty="0"/>
              <a:t> neuronal </a:t>
            </a:r>
            <a:r>
              <a:rPr lang="en-US" dirty="0" err="1"/>
              <a:t>basada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modelo</a:t>
            </a:r>
            <a:r>
              <a:rPr lang="en-US" dirty="0"/>
              <a:t> de [2] </a:t>
            </a:r>
            <a:r>
              <a:rPr lang="en-US" dirty="0" err="1"/>
              <a:t>aumentará</a:t>
            </a:r>
            <a:r>
              <a:rPr lang="en-US" dirty="0"/>
              <a:t> la </a:t>
            </a:r>
            <a:r>
              <a:rPr lang="en-US" dirty="0" err="1"/>
              <a:t>retención</a:t>
            </a:r>
            <a:r>
              <a:rPr lang="en-US" dirty="0"/>
              <a:t> del </a:t>
            </a:r>
            <a:r>
              <a:rPr lang="en-US" dirty="0" err="1"/>
              <a:t>conocimiento</a:t>
            </a:r>
            <a:r>
              <a:rPr lang="en-US" dirty="0"/>
              <a:t> </a:t>
            </a:r>
            <a:r>
              <a:rPr lang="en-US" dirty="0" err="1"/>
              <a:t>previo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un 10–15% </a:t>
            </a:r>
            <a:r>
              <a:rPr lang="en-US" dirty="0" err="1"/>
              <a:t>respecto</a:t>
            </a:r>
            <a:r>
              <a:rPr lang="en-US" dirty="0"/>
              <a:t> al </a:t>
            </a:r>
            <a:r>
              <a:rPr lang="en-US" dirty="0" err="1"/>
              <a:t>modelo</a:t>
            </a:r>
            <a:r>
              <a:rPr lang="en-US" dirty="0"/>
              <a:t> original, </a:t>
            </a:r>
            <a:r>
              <a:rPr lang="en-US" dirty="0" err="1"/>
              <a:t>manteniendo</a:t>
            </a:r>
            <a:r>
              <a:rPr lang="en-US" dirty="0"/>
              <a:t> un </a:t>
            </a:r>
            <a:r>
              <a:rPr lang="en-US" dirty="0" err="1"/>
              <a:t>costo</a:t>
            </a:r>
            <a:r>
              <a:rPr lang="en-US" dirty="0"/>
              <a:t> </a:t>
            </a:r>
            <a:r>
              <a:rPr lang="en-US" dirty="0" err="1"/>
              <a:t>computacional</a:t>
            </a:r>
            <a:r>
              <a:rPr lang="en-US" dirty="0"/>
              <a:t> similar y sin usar </a:t>
            </a:r>
            <a:r>
              <a:rPr lang="en-US" dirty="0" err="1"/>
              <a:t>mecanismos</a:t>
            </a:r>
            <a:r>
              <a:rPr lang="en-US" dirty="0"/>
              <a:t> </a:t>
            </a:r>
            <a:r>
              <a:rPr lang="en-US" dirty="0" err="1"/>
              <a:t>explícitos</a:t>
            </a:r>
            <a:r>
              <a:rPr lang="en-US" dirty="0"/>
              <a:t> de </a:t>
            </a:r>
            <a:r>
              <a:rPr lang="en-US" dirty="0" err="1"/>
              <a:t>repetición</a:t>
            </a:r>
            <a:r>
              <a:rPr lang="en-US" dirty="0"/>
              <a:t>.</a:t>
            </a:r>
            <a:br>
              <a:rPr lang="en-US" dirty="0"/>
            </a:b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38787F3-66BC-2B81-2134-2EDE74FBC347}"/>
              </a:ext>
            </a:extLst>
          </p:cNvPr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B99B1A2D-D4B6-4047-AD69-D754256AF902}" type="slidenum">
              <a:rPr lang="en-MX" smtClean="0"/>
              <a:t>5</a:t>
            </a:fld>
            <a:endParaRPr lang="en-MX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BDF11-9DC5-9A11-6C04-BA942D0A6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149;p6">
            <a:extLst>
              <a:ext uri="{FF2B5EF4-FFF2-40B4-BE49-F238E27FC236}">
                <a16:creationId xmlns:a16="http://schemas.microsoft.com/office/drawing/2014/main" id="{64B543F3-B634-8757-03EE-7389352DB174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360" y="4984200"/>
            <a:ext cx="10079280" cy="685440"/>
          </a:xfrm>
          <a:prstGeom prst="rect">
            <a:avLst/>
          </a:prstGeom>
          <a:ln w="0">
            <a:noFill/>
          </a:ln>
        </p:spPr>
      </p:pic>
      <p:pic>
        <p:nvPicPr>
          <p:cNvPr id="76" name="Google Shape;150;p6">
            <a:extLst>
              <a:ext uri="{FF2B5EF4-FFF2-40B4-BE49-F238E27FC236}">
                <a16:creationId xmlns:a16="http://schemas.microsoft.com/office/drawing/2014/main" id="{9BC61705-CE66-A1AC-1806-4B8335D4FCE8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360" y="0"/>
            <a:ext cx="1598400" cy="1484280"/>
          </a:xfrm>
          <a:prstGeom prst="rect">
            <a:avLst/>
          </a:prstGeom>
          <a:ln w="0">
            <a:noFill/>
          </a:ln>
        </p:spPr>
      </p:pic>
      <p:sp>
        <p:nvSpPr>
          <p:cNvPr id="77" name="Google Shape;151;p6">
            <a:extLst>
              <a:ext uri="{FF2B5EF4-FFF2-40B4-BE49-F238E27FC236}">
                <a16:creationId xmlns:a16="http://schemas.microsoft.com/office/drawing/2014/main" id="{D7FAB7F9-D024-2F52-BBCD-FF5E90395544}"/>
              </a:ext>
            </a:extLst>
          </p:cNvPr>
          <p:cNvSpPr/>
          <p:nvPr/>
        </p:nvSpPr>
        <p:spPr>
          <a:xfrm>
            <a:off x="1986120" y="402840"/>
            <a:ext cx="6107760" cy="678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600" b="1" strike="noStrike" spc="-1" dirty="0">
                <a:solidFill>
                  <a:srgbClr val="000000"/>
                </a:solidFill>
                <a:latin typeface="Calibri"/>
                <a:ea typeface="Calibri"/>
              </a:rPr>
              <a:t>Justificación</a:t>
            </a:r>
            <a:endParaRPr lang="es-MX" sz="2600" b="0" strike="noStrike" spc="-1" dirty="0">
              <a:latin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646FE8E-2B4B-384E-FF4A-06562E82F192}"/>
              </a:ext>
            </a:extLst>
          </p:cNvPr>
          <p:cNvSpPr txBox="1"/>
          <p:nvPr/>
        </p:nvSpPr>
        <p:spPr>
          <a:xfrm>
            <a:off x="1052518" y="1433746"/>
            <a:ext cx="797496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rgbClr val="000000"/>
              </a:buClr>
            </a:pPr>
            <a:r>
              <a:rPr lang="en-US" dirty="0"/>
              <a:t>La </a:t>
            </a:r>
            <a:r>
              <a:rPr lang="en-US" dirty="0" err="1"/>
              <a:t>combinación</a:t>
            </a:r>
            <a:r>
              <a:rPr lang="en-US" dirty="0"/>
              <a:t> de </a:t>
            </a:r>
            <a:r>
              <a:rPr lang="en-US" dirty="0" err="1"/>
              <a:t>Aprendizaje</a:t>
            </a:r>
            <a:r>
              <a:rPr lang="en-US" dirty="0"/>
              <a:t> Incremental y </a:t>
            </a:r>
            <a:r>
              <a:rPr lang="en-US" dirty="0" err="1"/>
              <a:t>TinyML</a:t>
            </a:r>
            <a:r>
              <a:rPr lang="en-US" dirty="0"/>
              <a:t> </a:t>
            </a:r>
            <a:r>
              <a:rPr lang="en-US" dirty="0" err="1"/>
              <a:t>permite</a:t>
            </a:r>
            <a:r>
              <a:rPr lang="en-US" dirty="0"/>
              <a:t> </a:t>
            </a:r>
            <a:r>
              <a:rPr lang="en-US" dirty="0" err="1"/>
              <a:t>crear</a:t>
            </a:r>
            <a:r>
              <a:rPr lang="en-US" dirty="0"/>
              <a:t> </a:t>
            </a:r>
            <a:r>
              <a:rPr lang="en-US" dirty="0" err="1"/>
              <a:t>modelos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aprenden</a:t>
            </a:r>
            <a:r>
              <a:rPr lang="en-US" dirty="0"/>
              <a:t>, se </a:t>
            </a:r>
            <a:r>
              <a:rPr lang="en-US" dirty="0" err="1"/>
              <a:t>adaptan</a:t>
            </a:r>
            <a:r>
              <a:rPr lang="en-US" dirty="0"/>
              <a:t> y </a:t>
            </a:r>
            <a:r>
              <a:rPr lang="en-US" dirty="0" err="1"/>
              <a:t>mantienen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memoria </a:t>
            </a:r>
            <a:r>
              <a:rPr lang="en-US" dirty="0" err="1"/>
              <a:t>directamente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dispositivos</a:t>
            </a:r>
            <a:r>
              <a:rPr lang="en-US" dirty="0"/>
              <a:t> con </a:t>
            </a:r>
            <a:r>
              <a:rPr lang="en-US" dirty="0" err="1"/>
              <a:t>recursos</a:t>
            </a:r>
            <a:r>
              <a:rPr lang="en-US" dirty="0"/>
              <a:t> </a:t>
            </a:r>
            <a:r>
              <a:rPr lang="en-US" dirty="0" err="1"/>
              <a:t>limitados</a:t>
            </a:r>
            <a:r>
              <a:rPr lang="en-US" dirty="0"/>
              <a:t>. Esto </a:t>
            </a:r>
            <a:r>
              <a:rPr lang="en-US" dirty="0" err="1"/>
              <a:t>mejora</a:t>
            </a:r>
            <a:r>
              <a:rPr lang="en-US" dirty="0"/>
              <a:t> </a:t>
            </a:r>
            <a:r>
              <a:rPr lang="en-US" dirty="0" err="1"/>
              <a:t>privacidad</a:t>
            </a:r>
            <a:r>
              <a:rPr lang="en-US" dirty="0"/>
              <a:t>, </a:t>
            </a:r>
            <a:r>
              <a:rPr lang="en-US" dirty="0" err="1"/>
              <a:t>eficiencia</a:t>
            </a:r>
            <a:r>
              <a:rPr lang="en-US" dirty="0"/>
              <a:t> y </a:t>
            </a:r>
            <a:r>
              <a:rPr lang="en-US" dirty="0" err="1"/>
              <a:t>abre</a:t>
            </a:r>
            <a:r>
              <a:rPr lang="en-US" dirty="0"/>
              <a:t> </a:t>
            </a:r>
            <a:r>
              <a:rPr lang="en-US" dirty="0" err="1"/>
              <a:t>nuevas</a:t>
            </a:r>
            <a:r>
              <a:rPr lang="en-US" dirty="0"/>
              <a:t> </a:t>
            </a:r>
            <a:r>
              <a:rPr lang="en-US" dirty="0" err="1"/>
              <a:t>posibilidades</a:t>
            </a:r>
            <a:r>
              <a:rPr lang="en-US" dirty="0"/>
              <a:t> para IA </a:t>
            </a:r>
            <a:r>
              <a:rPr lang="en-US" dirty="0" err="1"/>
              <a:t>embebida</a:t>
            </a:r>
            <a:r>
              <a:rPr lang="es-ES" spc="-1" dirty="0">
                <a:solidFill>
                  <a:srgbClr val="000000"/>
                </a:solidFill>
                <a:ea typeface="Arial"/>
              </a:rPr>
              <a:t>.</a:t>
            </a:r>
            <a:endParaRPr lang="es-MX" spc="-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73B55DD-5F39-2955-E7EA-2679C3B47314}"/>
              </a:ext>
            </a:extLst>
          </p:cNvPr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B99B1A2D-D4B6-4047-AD69-D754256AF902}" type="slidenum">
              <a:rPr lang="en-MX" smtClean="0"/>
              <a:t>6</a:t>
            </a:fld>
            <a:endParaRPr lang="en-MX"/>
          </a:p>
        </p:txBody>
      </p:sp>
    </p:spTree>
    <p:extLst>
      <p:ext uri="{BB962C8B-B14F-4D97-AF65-F5344CB8AC3E}">
        <p14:creationId xmlns:p14="http://schemas.microsoft.com/office/powerpoint/2010/main" val="5649579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subTitle"/>
          </p:nvPr>
        </p:nvSpPr>
        <p:spPr>
          <a:xfrm>
            <a:off x="2246760" y="852480"/>
            <a:ext cx="6208560" cy="143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just">
              <a:lnSpc>
                <a:spcPct val="90000"/>
              </a:lnSpc>
              <a:buNone/>
              <a:tabLst>
                <a:tab pos="0" algn="l"/>
              </a:tabLst>
            </a:pPr>
            <a:r>
              <a:rPr lang="es-ES" sz="2400" b="0" strike="noStrike" spc="-1">
                <a:solidFill>
                  <a:srgbClr val="000000"/>
                </a:solidFill>
                <a:latin typeface="Calibri"/>
                <a:ea typeface="Calibri"/>
              </a:rPr>
              <a:t>Contienen dos o mas capas, entrada y salida y una o mas ocultas, con funciones de activación</a:t>
            </a:r>
            <a:endParaRPr lang="es-MX" sz="2400" b="0" strike="noStrike" spc="-1">
              <a:latin typeface="Arial"/>
            </a:endParaRPr>
          </a:p>
        </p:txBody>
      </p:sp>
      <p:pic>
        <p:nvPicPr>
          <p:cNvPr id="99" name="Google Shape;187;p10"/>
          <p:cNvPicPr/>
          <p:nvPr/>
        </p:nvPicPr>
        <p:blipFill>
          <a:blip r:embed="rId2"/>
          <a:stretch/>
        </p:blipFill>
        <p:spPr>
          <a:xfrm>
            <a:off x="360" y="4984200"/>
            <a:ext cx="10079280" cy="685440"/>
          </a:xfrm>
          <a:prstGeom prst="rect">
            <a:avLst/>
          </a:prstGeom>
          <a:ln w="0">
            <a:noFill/>
          </a:ln>
        </p:spPr>
      </p:pic>
      <p:pic>
        <p:nvPicPr>
          <p:cNvPr id="100" name="Google Shape;188;p10"/>
          <p:cNvPicPr/>
          <p:nvPr/>
        </p:nvPicPr>
        <p:blipFill>
          <a:blip r:embed="rId3"/>
          <a:stretch/>
        </p:blipFill>
        <p:spPr>
          <a:xfrm>
            <a:off x="360" y="0"/>
            <a:ext cx="1598400" cy="1484280"/>
          </a:xfrm>
          <a:prstGeom prst="rect">
            <a:avLst/>
          </a:prstGeom>
          <a:ln w="0">
            <a:noFill/>
          </a:ln>
        </p:spPr>
      </p:pic>
      <p:sp>
        <p:nvSpPr>
          <p:cNvPr id="101" name="PlaceHolder 2"/>
          <p:cNvSpPr>
            <a:spLocks noGrp="1"/>
          </p:cNvSpPr>
          <p:nvPr>
            <p:ph type="title"/>
          </p:nvPr>
        </p:nvSpPr>
        <p:spPr>
          <a:xfrm>
            <a:off x="82656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lnSpc>
                <a:spcPct val="90000"/>
              </a:lnSpc>
              <a:buNone/>
              <a:tabLst>
                <a:tab pos="0" algn="l"/>
              </a:tabLst>
            </a:pPr>
            <a:r>
              <a:rPr lang="es-ES" sz="2600" b="1" strike="noStrike" spc="-1" dirty="0">
                <a:solidFill>
                  <a:srgbClr val="000000"/>
                </a:solidFill>
                <a:latin typeface="Calibri"/>
                <a:ea typeface="Calibri"/>
              </a:rPr>
              <a:t>Redes Neuronales de Perceptrón Multicapa</a:t>
            </a:r>
            <a:endParaRPr lang="es-MX" sz="2600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2" name="Google Shape;190;p10"/>
          <p:cNvPicPr/>
          <p:nvPr/>
        </p:nvPicPr>
        <p:blipFill>
          <a:blip r:embed="rId4"/>
          <a:stretch/>
        </p:blipFill>
        <p:spPr>
          <a:xfrm>
            <a:off x="2581920" y="2054880"/>
            <a:ext cx="5561280" cy="2928960"/>
          </a:xfrm>
          <a:prstGeom prst="rect">
            <a:avLst/>
          </a:prstGeom>
          <a:ln w="0">
            <a:noFill/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AAD15A9-BDD6-846A-6B64-156AA433E7AD}"/>
              </a:ext>
            </a:extLst>
          </p:cNvPr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B99B1A2D-D4B6-4047-AD69-D754256AF902}" type="slidenum">
              <a:rPr lang="en-MX" smtClean="0"/>
              <a:t>7</a:t>
            </a:fld>
            <a:endParaRPr lang="en-MX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C922CB-B4A6-20F2-5523-2C4505990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187;p10">
            <a:extLst>
              <a:ext uri="{FF2B5EF4-FFF2-40B4-BE49-F238E27FC236}">
                <a16:creationId xmlns:a16="http://schemas.microsoft.com/office/drawing/2014/main" id="{6CC09C89-BA85-9E31-6F2B-DD767C98ABE3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360" y="4984200"/>
            <a:ext cx="10079280" cy="685440"/>
          </a:xfrm>
          <a:prstGeom prst="rect">
            <a:avLst/>
          </a:prstGeom>
          <a:ln w="0">
            <a:noFill/>
          </a:ln>
        </p:spPr>
      </p:pic>
      <p:pic>
        <p:nvPicPr>
          <p:cNvPr id="100" name="Google Shape;188;p10">
            <a:extLst>
              <a:ext uri="{FF2B5EF4-FFF2-40B4-BE49-F238E27FC236}">
                <a16:creationId xmlns:a16="http://schemas.microsoft.com/office/drawing/2014/main" id="{E7062BD9-501A-A1E8-F077-0844A1DFC5AD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360" y="0"/>
            <a:ext cx="1598400" cy="1484280"/>
          </a:xfrm>
          <a:prstGeom prst="rect">
            <a:avLst/>
          </a:prstGeom>
          <a:ln w="0">
            <a:noFill/>
          </a:ln>
        </p:spPr>
      </p:pic>
      <p:sp>
        <p:nvSpPr>
          <p:cNvPr id="101" name="PlaceHolder 2">
            <a:extLst>
              <a:ext uri="{FF2B5EF4-FFF2-40B4-BE49-F238E27FC236}">
                <a16:creationId xmlns:a16="http://schemas.microsoft.com/office/drawing/2014/main" id="{0E1A5462-A290-E806-0AEB-D9BB33D5D3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56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lnSpc>
                <a:spcPct val="90000"/>
              </a:lnSpc>
              <a:buNone/>
              <a:tabLst>
                <a:tab pos="0" algn="l"/>
              </a:tabLst>
            </a:pPr>
            <a:r>
              <a:rPr lang="es-ES" sz="2600" b="1" strike="noStrike" spc="-1" dirty="0" err="1">
                <a:solidFill>
                  <a:srgbClr val="000000"/>
                </a:solidFill>
                <a:latin typeface="Calibri"/>
                <a:ea typeface="Calibri"/>
              </a:rPr>
              <a:t>Backpropagation</a:t>
            </a:r>
            <a:endParaRPr lang="es-MX" sz="2600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" name="Picture 3" descr="A diagram of a diagram&#10;&#10;AI-generated content may be incorrect.">
            <a:extLst>
              <a:ext uri="{FF2B5EF4-FFF2-40B4-BE49-F238E27FC236}">
                <a16:creationId xmlns:a16="http://schemas.microsoft.com/office/drawing/2014/main" id="{DC33742D-CC28-800B-AD79-CE224B45A4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825"/>
          <a:stretch>
            <a:fillRect/>
          </a:stretch>
        </p:blipFill>
        <p:spPr>
          <a:xfrm>
            <a:off x="2018806" y="1102081"/>
            <a:ext cx="5830784" cy="3466387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B83348-3B88-161A-684C-ADE785AB2E4E}"/>
              </a:ext>
            </a:extLst>
          </p:cNvPr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B99B1A2D-D4B6-4047-AD69-D754256AF902}" type="slidenum">
              <a:rPr lang="en-MX" smtClean="0"/>
              <a:t>8</a:t>
            </a:fld>
            <a:endParaRPr lang="en-MX"/>
          </a:p>
        </p:txBody>
      </p:sp>
    </p:spTree>
    <p:extLst>
      <p:ext uri="{BB962C8B-B14F-4D97-AF65-F5344CB8AC3E}">
        <p14:creationId xmlns:p14="http://schemas.microsoft.com/office/powerpoint/2010/main" val="22475227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229;p14"/>
          <p:cNvPicPr/>
          <p:nvPr/>
        </p:nvPicPr>
        <p:blipFill>
          <a:blip r:embed="rId2"/>
          <a:stretch/>
        </p:blipFill>
        <p:spPr>
          <a:xfrm>
            <a:off x="360" y="4984200"/>
            <a:ext cx="10079280" cy="685440"/>
          </a:xfrm>
          <a:prstGeom prst="rect">
            <a:avLst/>
          </a:prstGeom>
          <a:ln w="0">
            <a:noFill/>
          </a:ln>
        </p:spPr>
      </p:pic>
      <p:pic>
        <p:nvPicPr>
          <p:cNvPr id="118" name="Google Shape;230;p14"/>
          <p:cNvPicPr/>
          <p:nvPr/>
        </p:nvPicPr>
        <p:blipFill>
          <a:blip r:embed="rId3"/>
          <a:stretch/>
        </p:blipFill>
        <p:spPr>
          <a:xfrm>
            <a:off x="360" y="0"/>
            <a:ext cx="1598400" cy="1484280"/>
          </a:xfrm>
          <a:prstGeom prst="rect">
            <a:avLst/>
          </a:prstGeom>
          <a:ln w="0">
            <a:noFill/>
          </a:ln>
        </p:spPr>
      </p:pic>
      <p:sp>
        <p:nvSpPr>
          <p:cNvPr id="2" name="AutoShape 2">
            <a:extLst>
              <a:ext uri="{FF2B5EF4-FFF2-40B4-BE49-F238E27FC236}">
                <a16:creationId xmlns:a16="http://schemas.microsoft.com/office/drawing/2014/main" id="{46D2B78D-ECE7-580D-49A7-D2E0809BC60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191608" y="845893"/>
            <a:ext cx="2475890" cy="2475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MX"/>
          </a:p>
        </p:txBody>
      </p:sp>
      <p:pic>
        <p:nvPicPr>
          <p:cNvPr id="5" name="Picture 4" descr="A diagram of a model&#10;&#10;AI-generated content may be incorrect.">
            <a:extLst>
              <a:ext uri="{FF2B5EF4-FFF2-40B4-BE49-F238E27FC236}">
                <a16:creationId xmlns:a16="http://schemas.microsoft.com/office/drawing/2014/main" id="{183EA341-A0F6-D547-AA1E-9D22F138D30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0082" y="446589"/>
            <a:ext cx="5881695" cy="392113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86105B2-1EB6-E593-FEFB-EA1D394F4049}"/>
              </a:ext>
            </a:extLst>
          </p:cNvPr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B99B1A2D-D4B6-4047-AD69-D754256AF902}" type="slidenum">
              <a:rPr lang="en-MX" smtClean="0"/>
              <a:t>9</a:t>
            </a:fld>
            <a:endParaRPr lang="en-MX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6E81B-58F0-0957-5B25-57EF1DC5C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229;p14">
            <a:extLst>
              <a:ext uri="{FF2B5EF4-FFF2-40B4-BE49-F238E27FC236}">
                <a16:creationId xmlns:a16="http://schemas.microsoft.com/office/drawing/2014/main" id="{ECFE1E69-6C6A-ACF7-D941-6301C2A2C5CD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360" y="4984200"/>
            <a:ext cx="10079280" cy="685440"/>
          </a:xfrm>
          <a:prstGeom prst="rect">
            <a:avLst/>
          </a:prstGeom>
          <a:ln w="0">
            <a:noFill/>
          </a:ln>
        </p:spPr>
      </p:pic>
      <p:pic>
        <p:nvPicPr>
          <p:cNvPr id="118" name="Google Shape;230;p14">
            <a:extLst>
              <a:ext uri="{FF2B5EF4-FFF2-40B4-BE49-F238E27FC236}">
                <a16:creationId xmlns:a16="http://schemas.microsoft.com/office/drawing/2014/main" id="{E9A8E4E9-7751-19A0-7965-302F6C50D507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360" y="0"/>
            <a:ext cx="1598400" cy="1484280"/>
          </a:xfrm>
          <a:prstGeom prst="rect">
            <a:avLst/>
          </a:prstGeom>
          <a:ln w="0">
            <a:noFill/>
          </a:ln>
        </p:spPr>
      </p:pic>
      <p:sp>
        <p:nvSpPr>
          <p:cNvPr id="2" name="AutoShape 2">
            <a:extLst>
              <a:ext uri="{FF2B5EF4-FFF2-40B4-BE49-F238E27FC236}">
                <a16:creationId xmlns:a16="http://schemas.microsoft.com/office/drawing/2014/main" id="{CC159956-4A3D-1D7A-8F85-9746F62D7D0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191608" y="845893"/>
            <a:ext cx="2475890" cy="2475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MX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52CFC4-B3CC-CEBC-0300-19E2532F1CDA}"/>
              </a:ext>
            </a:extLst>
          </p:cNvPr>
          <p:cNvSpPr txBox="1"/>
          <p:nvPr/>
        </p:nvSpPr>
        <p:spPr>
          <a:xfrm>
            <a:off x="1832838" y="249697"/>
            <a:ext cx="7925183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b="1" dirty="0" err="1">
                <a:latin typeface="Calibri" panose="020F0502020204030204" pitchFamily="34" charset="0"/>
                <a:cs typeface="Calibri" panose="020F0502020204030204" pitchFamily="34" charset="0"/>
              </a:rPr>
              <a:t>Arquitectura</a:t>
            </a:r>
            <a:r>
              <a:rPr lang="en-US" sz="2600" b="1" dirty="0">
                <a:latin typeface="Calibri" panose="020F0502020204030204" pitchFamily="34" charset="0"/>
                <a:cs typeface="Calibri" panose="020F0502020204030204" pitchFamily="34" charset="0"/>
              </a:rPr>
              <a:t> de </a:t>
            </a:r>
            <a:r>
              <a:rPr lang="en-US" sz="2600" b="1" dirty="0" err="1">
                <a:latin typeface="Calibri" panose="020F0502020204030204" pitchFamily="34" charset="0"/>
                <a:cs typeface="Calibri" panose="020F0502020204030204" pitchFamily="34" charset="0"/>
              </a:rPr>
              <a:t>referencia</a:t>
            </a:r>
            <a:r>
              <a:rPr lang="en-US" sz="2600" b="1" dirty="0">
                <a:latin typeface="Calibri" panose="020F0502020204030204" pitchFamily="34" charset="0"/>
                <a:cs typeface="Calibri" panose="020F0502020204030204" pitchFamily="34" charset="0"/>
              </a:rPr>
              <a:t> para </a:t>
            </a:r>
            <a:r>
              <a:rPr lang="en-US" sz="2600" b="1" dirty="0" err="1">
                <a:latin typeface="Calibri" panose="020F0502020204030204" pitchFamily="34" charset="0"/>
                <a:cs typeface="Calibri" panose="020F0502020204030204" pitchFamily="34" charset="0"/>
              </a:rPr>
              <a:t>el</a:t>
            </a:r>
            <a:r>
              <a:rPr lang="en-US" sz="2600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600" b="1" dirty="0" err="1">
                <a:latin typeface="Calibri" panose="020F0502020204030204" pitchFamily="34" charset="0"/>
                <a:cs typeface="Calibri" panose="020F0502020204030204" pitchFamily="34" charset="0"/>
              </a:rPr>
              <a:t>esquema</a:t>
            </a:r>
            <a:r>
              <a:rPr lang="en-US" sz="2600" b="1" dirty="0">
                <a:latin typeface="Calibri" panose="020F0502020204030204" pitchFamily="34" charset="0"/>
                <a:cs typeface="Calibri" panose="020F0502020204030204" pitchFamily="34" charset="0"/>
              </a:rPr>
              <a:t> incremental</a:t>
            </a:r>
            <a:endParaRPr lang="en-MX" sz="26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AutoShape 4">
            <a:extLst>
              <a:ext uri="{FF2B5EF4-FFF2-40B4-BE49-F238E27FC236}">
                <a16:creationId xmlns:a16="http://schemas.microsoft.com/office/drawing/2014/main" id="{29E1B9FC-5819-4914-45BF-0A945D39B91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887912" y="2682874"/>
            <a:ext cx="1815037" cy="1815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MX"/>
          </a:p>
        </p:txBody>
      </p:sp>
      <p:pic>
        <p:nvPicPr>
          <p:cNvPr id="8" name="Picture 7" descr="A diagram of a brain activity&#10;&#10;AI-generated content may be incorrect.">
            <a:extLst>
              <a:ext uri="{FF2B5EF4-FFF2-40B4-BE49-F238E27FC236}">
                <a16:creationId xmlns:a16="http://schemas.microsoft.com/office/drawing/2014/main" id="{644EBC51-3F04-5800-4185-21C418F647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27"/>
          <a:stretch>
            <a:fillRect/>
          </a:stretch>
        </p:blipFill>
        <p:spPr>
          <a:xfrm>
            <a:off x="2807032" y="1010743"/>
            <a:ext cx="5502082" cy="3344262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25F47FB-1A67-A9D0-4B16-99DA89D04D31}"/>
              </a:ext>
            </a:extLst>
          </p:cNvPr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B99B1A2D-D4B6-4047-AD69-D754256AF902}" type="slidenum">
              <a:rPr lang="en-MX" smtClean="0"/>
              <a:t>10</a:t>
            </a:fld>
            <a:endParaRPr lang="en-MX"/>
          </a:p>
        </p:txBody>
      </p:sp>
    </p:spTree>
    <p:extLst>
      <p:ext uri="{BB962C8B-B14F-4D97-AF65-F5344CB8AC3E}">
        <p14:creationId xmlns:p14="http://schemas.microsoft.com/office/powerpoint/2010/main" val="21967369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237;p15"/>
          <p:cNvPicPr/>
          <p:nvPr/>
        </p:nvPicPr>
        <p:blipFill>
          <a:blip r:embed="rId2"/>
          <a:stretch/>
        </p:blipFill>
        <p:spPr>
          <a:xfrm>
            <a:off x="360" y="4984200"/>
            <a:ext cx="10079280" cy="685440"/>
          </a:xfrm>
          <a:prstGeom prst="rect">
            <a:avLst/>
          </a:prstGeom>
          <a:ln w="0">
            <a:noFill/>
          </a:ln>
        </p:spPr>
      </p:pic>
      <p:pic>
        <p:nvPicPr>
          <p:cNvPr id="122" name="Google Shape;238;p15"/>
          <p:cNvPicPr/>
          <p:nvPr/>
        </p:nvPicPr>
        <p:blipFill>
          <a:blip r:embed="rId3"/>
          <a:stretch/>
        </p:blipFill>
        <p:spPr>
          <a:xfrm>
            <a:off x="360" y="0"/>
            <a:ext cx="1598400" cy="1484280"/>
          </a:xfrm>
          <a:prstGeom prst="rect">
            <a:avLst/>
          </a:prstGeom>
          <a:ln w="0">
            <a:noFill/>
          </a:ln>
        </p:spPr>
      </p:pic>
      <p:sp>
        <p:nvSpPr>
          <p:cNvPr id="123" name="Google Shape;239;p15"/>
          <p:cNvSpPr/>
          <p:nvPr/>
        </p:nvSpPr>
        <p:spPr>
          <a:xfrm>
            <a:off x="922320" y="1915200"/>
            <a:ext cx="8565480" cy="26776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marL="285840" indent="-285840" algn="just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s-ES" sz="2400" b="0" strike="noStrike" spc="-1" dirty="0">
                <a:solidFill>
                  <a:srgbClr val="000000"/>
                </a:solidFill>
                <a:latin typeface="Calibri"/>
                <a:ea typeface="Calibri"/>
              </a:rPr>
              <a:t>Recrear el código de </a:t>
            </a:r>
            <a:r>
              <a:rPr lang="es-ES" sz="2400" b="0" strike="noStrike" spc="-1" dirty="0" err="1">
                <a:solidFill>
                  <a:srgbClr val="000000"/>
                </a:solidFill>
                <a:latin typeface="Calibri"/>
                <a:ea typeface="Calibri"/>
              </a:rPr>
              <a:t>Bullinaria</a:t>
            </a:r>
            <a:r>
              <a:rPr lang="es-ES" sz="2400" b="0" strike="noStrike" spc="-1" dirty="0">
                <a:solidFill>
                  <a:srgbClr val="000000"/>
                </a:solidFill>
                <a:latin typeface="Calibri"/>
                <a:ea typeface="Calibri"/>
              </a:rPr>
              <a:t> en Python</a:t>
            </a:r>
            <a:endParaRPr lang="es-MX" sz="2400" b="0" strike="noStrike" spc="-1" dirty="0">
              <a:latin typeface="Arial"/>
            </a:endParaRPr>
          </a:p>
          <a:p>
            <a:pPr algn="just">
              <a:lnSpc>
                <a:spcPct val="100000"/>
              </a:lnSpc>
              <a:buNone/>
              <a:tabLst>
                <a:tab pos="0" algn="l"/>
              </a:tabLst>
            </a:pPr>
            <a:endParaRPr lang="es-MX" sz="2400" b="0" strike="noStrike" spc="-1" dirty="0">
              <a:latin typeface="Arial"/>
            </a:endParaRPr>
          </a:p>
          <a:p>
            <a:pPr marL="285840" indent="-285840" algn="just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ES" sz="2400" b="0" strike="noStrike" spc="-1" dirty="0">
                <a:solidFill>
                  <a:srgbClr val="000000"/>
                </a:solidFill>
                <a:latin typeface="Calibri"/>
                <a:ea typeface="Calibri"/>
              </a:rPr>
              <a:t>Extender el código con mas de dos matrices de pesos duplicados</a:t>
            </a:r>
            <a:endParaRPr lang="es-MX" sz="2400" b="0" strike="noStrike" spc="-1" dirty="0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endParaRPr lang="es-MX" sz="2400" b="0" strike="noStrike" spc="-1" dirty="0"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ES" sz="2400" b="0" strike="noStrike" spc="-1" dirty="0">
                <a:solidFill>
                  <a:srgbClr val="000000"/>
                </a:solidFill>
                <a:latin typeface="Calibri"/>
                <a:ea typeface="Calibri"/>
              </a:rPr>
              <a:t>Realizar una comparación de ambos resultados</a:t>
            </a: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endParaRPr lang="es-ES" sz="2400" spc="-1" dirty="0">
              <a:solidFill>
                <a:srgbClr val="000000"/>
              </a:solidFill>
              <a:latin typeface="Calibri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s-ES" sz="2400" b="0" strike="noStrike" spc="-1" dirty="0">
                <a:solidFill>
                  <a:srgbClr val="000000"/>
                </a:solidFill>
                <a:latin typeface="Calibri"/>
              </a:rPr>
              <a:t>Realizar pruebas con 6 </a:t>
            </a:r>
            <a:r>
              <a:rPr lang="es-ES" sz="2400" b="0" strike="noStrike" spc="-1" dirty="0" err="1">
                <a:solidFill>
                  <a:srgbClr val="000000"/>
                </a:solidFill>
                <a:latin typeface="Calibri"/>
              </a:rPr>
              <a:t>datasets</a:t>
            </a:r>
            <a:r>
              <a:rPr lang="es-ES" sz="2400" b="0" strike="noStrike" spc="-1" dirty="0">
                <a:solidFill>
                  <a:srgbClr val="000000"/>
                </a:solidFill>
                <a:latin typeface="Calibri"/>
              </a:rPr>
              <a:t> distintos</a:t>
            </a:r>
            <a:endParaRPr lang="es-MX" sz="2400" b="0" strike="noStrike" spc="-1" dirty="0">
              <a:latin typeface="Arial"/>
            </a:endParaRPr>
          </a:p>
        </p:txBody>
      </p:sp>
      <p:sp>
        <p:nvSpPr>
          <p:cNvPr id="124" name="Google Shape;240;p15"/>
          <p:cNvSpPr/>
          <p:nvPr/>
        </p:nvSpPr>
        <p:spPr>
          <a:xfrm>
            <a:off x="4031280" y="398160"/>
            <a:ext cx="2971440" cy="607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600" b="1" strike="noStrike" spc="-1" dirty="0">
                <a:solidFill>
                  <a:srgbClr val="000000"/>
                </a:solidFill>
                <a:latin typeface="Calibri"/>
                <a:ea typeface="Calibri"/>
              </a:rPr>
              <a:t>Metodología </a:t>
            </a:r>
            <a:endParaRPr lang="es-MX" sz="2600" b="0" strike="noStrike" spc="-1" dirty="0">
              <a:latin typeface="Arial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F0AC78-5E2E-ABDC-4DBB-580D4ED5C65F}"/>
              </a:ext>
            </a:extLst>
          </p:cNvPr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B99B1A2D-D4B6-4047-AD69-D754256AF902}" type="slidenum">
              <a:rPr lang="en-MX" smtClean="0"/>
              <a:t>11</a:t>
            </a:fld>
            <a:endParaRPr lang="en-MX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D4803-8E37-6B7C-B62A-5A2051DC7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237;p15">
            <a:extLst>
              <a:ext uri="{FF2B5EF4-FFF2-40B4-BE49-F238E27FC236}">
                <a16:creationId xmlns:a16="http://schemas.microsoft.com/office/drawing/2014/main" id="{2BAF655F-7418-4D46-6C0C-FC115DA28826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360" y="4984200"/>
            <a:ext cx="10079280" cy="685440"/>
          </a:xfrm>
          <a:prstGeom prst="rect">
            <a:avLst/>
          </a:prstGeom>
          <a:ln w="0">
            <a:noFill/>
          </a:ln>
        </p:spPr>
      </p:pic>
      <p:pic>
        <p:nvPicPr>
          <p:cNvPr id="122" name="Google Shape;238;p15">
            <a:extLst>
              <a:ext uri="{FF2B5EF4-FFF2-40B4-BE49-F238E27FC236}">
                <a16:creationId xmlns:a16="http://schemas.microsoft.com/office/drawing/2014/main" id="{2D5EA10E-E4A4-F423-01A8-8E8748AB9A14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360" y="0"/>
            <a:ext cx="1598400" cy="1484280"/>
          </a:xfrm>
          <a:prstGeom prst="rect">
            <a:avLst/>
          </a:prstGeom>
          <a:ln w="0">
            <a:noFill/>
          </a:ln>
        </p:spPr>
      </p:pic>
      <p:sp>
        <p:nvSpPr>
          <p:cNvPr id="124" name="Google Shape;240;p15">
            <a:extLst>
              <a:ext uri="{FF2B5EF4-FFF2-40B4-BE49-F238E27FC236}">
                <a16:creationId xmlns:a16="http://schemas.microsoft.com/office/drawing/2014/main" id="{FAB84CF1-DE95-7314-637B-678D96398D1C}"/>
              </a:ext>
            </a:extLst>
          </p:cNvPr>
          <p:cNvSpPr/>
          <p:nvPr/>
        </p:nvSpPr>
        <p:spPr>
          <a:xfrm>
            <a:off x="1367624" y="448435"/>
            <a:ext cx="7839986" cy="42877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dirty="0" err="1">
                <a:latin typeface="Calibri" panose="020F0502020204030204" pitchFamily="34" charset="0"/>
                <a:cs typeface="Calibri" panose="020F0502020204030204" pitchFamily="34" charset="0"/>
              </a:rPr>
              <a:t>Resultados</a:t>
            </a:r>
            <a:r>
              <a:rPr lang="en-US" sz="2600" b="1" dirty="0">
                <a:latin typeface="Calibri" panose="020F0502020204030204" pitchFamily="34" charset="0"/>
                <a:cs typeface="Calibri" panose="020F0502020204030204" pitchFamily="34" charset="0"/>
              </a:rPr>
              <a:t> de la </a:t>
            </a:r>
            <a:r>
              <a:rPr lang="en-US" sz="2600" b="1" dirty="0" err="1">
                <a:latin typeface="Calibri" panose="020F0502020204030204" pitchFamily="34" charset="0"/>
                <a:cs typeface="Calibri" panose="020F0502020204030204" pitchFamily="34" charset="0"/>
              </a:rPr>
              <a:t>Réplica</a:t>
            </a:r>
            <a:r>
              <a:rPr lang="en-US" sz="2600" b="1" dirty="0">
                <a:latin typeface="Calibri" panose="020F0502020204030204" pitchFamily="34" charset="0"/>
                <a:cs typeface="Calibri" panose="020F0502020204030204" pitchFamily="34" charset="0"/>
              </a:rPr>
              <a:t> del Modelo de </a:t>
            </a:r>
            <a:r>
              <a:rPr lang="en-US" sz="2600" b="1" dirty="0" err="1">
                <a:latin typeface="Calibri" panose="020F0502020204030204" pitchFamily="34" charset="0"/>
                <a:cs typeface="Calibri" panose="020F0502020204030204" pitchFamily="34" charset="0"/>
              </a:rPr>
              <a:t>Bullinaria</a:t>
            </a:r>
            <a:r>
              <a:rPr lang="en-US" sz="2600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600" b="1" dirty="0" err="1">
                <a:latin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sz="2600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600" b="1" dirty="0" err="1">
                <a:latin typeface="Calibri" panose="020F0502020204030204" pitchFamily="34" charset="0"/>
                <a:cs typeface="Calibri" panose="020F0502020204030204" pitchFamily="34" charset="0"/>
              </a:rPr>
              <a:t>PyTorch</a:t>
            </a:r>
            <a:endParaRPr lang="es-MX" sz="2600" b="1" strike="noStrike" spc="-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A023411-19F3-07A4-CB18-C4EA25FC0D7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705" t="5726" r="2093" b="39698"/>
          <a:stretch>
            <a:fillRect/>
          </a:stretch>
        </p:blipFill>
        <p:spPr>
          <a:xfrm>
            <a:off x="2120163" y="1310604"/>
            <a:ext cx="6390761" cy="280681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D0D4205-2AF3-447A-E036-8752246DA840}"/>
              </a:ext>
            </a:extLst>
          </p:cNvPr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B99B1A2D-D4B6-4047-AD69-D754256AF902}" type="slidenum">
              <a:rPr lang="en-MX" smtClean="0"/>
              <a:t>12</a:t>
            </a:fld>
            <a:endParaRPr lang="en-MX"/>
          </a:p>
        </p:txBody>
      </p:sp>
    </p:spTree>
    <p:extLst>
      <p:ext uri="{BB962C8B-B14F-4D97-AF65-F5344CB8AC3E}">
        <p14:creationId xmlns:p14="http://schemas.microsoft.com/office/powerpoint/2010/main" val="36679418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246;p16"/>
          <p:cNvPicPr/>
          <p:nvPr/>
        </p:nvPicPr>
        <p:blipFill>
          <a:blip r:embed="rId2"/>
          <a:stretch/>
        </p:blipFill>
        <p:spPr>
          <a:xfrm>
            <a:off x="360" y="4984200"/>
            <a:ext cx="10079280" cy="685440"/>
          </a:xfrm>
          <a:prstGeom prst="rect">
            <a:avLst/>
          </a:prstGeom>
          <a:ln w="0">
            <a:noFill/>
          </a:ln>
        </p:spPr>
      </p:pic>
      <p:pic>
        <p:nvPicPr>
          <p:cNvPr id="127" name="Google Shape;247;p16"/>
          <p:cNvPicPr/>
          <p:nvPr/>
        </p:nvPicPr>
        <p:blipFill>
          <a:blip r:embed="rId3"/>
          <a:stretch/>
        </p:blipFill>
        <p:spPr>
          <a:xfrm>
            <a:off x="360" y="0"/>
            <a:ext cx="1598400" cy="1484280"/>
          </a:xfrm>
          <a:prstGeom prst="rect">
            <a:avLst/>
          </a:prstGeom>
          <a:ln w="0">
            <a:noFill/>
          </a:ln>
        </p:spPr>
      </p:pic>
      <p:sp>
        <p:nvSpPr>
          <p:cNvPr id="128" name="Google Shape;248;p16"/>
          <p:cNvSpPr/>
          <p:nvPr/>
        </p:nvSpPr>
        <p:spPr>
          <a:xfrm>
            <a:off x="1136855" y="129875"/>
            <a:ext cx="8666901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600" b="1" strike="noStrike" spc="-1" dirty="0">
                <a:solidFill>
                  <a:srgbClr val="000000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</a:rPr>
              <a:t>Cronograma de </a:t>
            </a:r>
            <a:endParaRPr lang="es-MX" sz="2600" b="0" strike="noStrike" spc="-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600" b="1" strike="noStrike" spc="-1" dirty="0">
                <a:solidFill>
                  <a:srgbClr val="000000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</a:rPr>
              <a:t>Actividades </a:t>
            </a:r>
            <a:endParaRPr lang="es-MX" sz="2600" b="0" strike="noStrike" spc="-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67A9265-BA00-982D-13BC-885A7089D2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695" y="945190"/>
            <a:ext cx="8637987" cy="3833544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CA5B91-7564-848E-B4A1-9273C3672979}"/>
              </a:ext>
            </a:extLst>
          </p:cNvPr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B99B1A2D-D4B6-4047-AD69-D754256AF902}" type="slidenum">
              <a:rPr lang="en-MX" smtClean="0"/>
              <a:t>13</a:t>
            </a:fld>
            <a:endParaRPr lang="en-MX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255;p17"/>
          <p:cNvPicPr/>
          <p:nvPr/>
        </p:nvPicPr>
        <p:blipFill>
          <a:blip r:embed="rId2"/>
          <a:stretch/>
        </p:blipFill>
        <p:spPr>
          <a:xfrm>
            <a:off x="360" y="4984200"/>
            <a:ext cx="10079280" cy="685440"/>
          </a:xfrm>
          <a:prstGeom prst="rect">
            <a:avLst/>
          </a:prstGeom>
          <a:ln w="0">
            <a:noFill/>
          </a:ln>
        </p:spPr>
      </p:pic>
      <p:pic>
        <p:nvPicPr>
          <p:cNvPr id="132" name="Google Shape;256;p17"/>
          <p:cNvPicPr/>
          <p:nvPr/>
        </p:nvPicPr>
        <p:blipFill>
          <a:blip r:embed="rId3"/>
          <a:stretch/>
        </p:blipFill>
        <p:spPr>
          <a:xfrm>
            <a:off x="360" y="0"/>
            <a:ext cx="1598400" cy="1484280"/>
          </a:xfrm>
          <a:prstGeom prst="rect">
            <a:avLst/>
          </a:prstGeom>
          <a:ln w="0">
            <a:noFill/>
          </a:ln>
        </p:spPr>
      </p:pic>
      <p:sp>
        <p:nvSpPr>
          <p:cNvPr id="133" name="Google Shape;257;p17"/>
          <p:cNvSpPr/>
          <p:nvPr/>
        </p:nvSpPr>
        <p:spPr>
          <a:xfrm>
            <a:off x="2081160" y="381960"/>
            <a:ext cx="6107760" cy="678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600" b="1" strike="noStrike" spc="-1" dirty="0">
                <a:solidFill>
                  <a:srgbClr val="000000"/>
                </a:solidFill>
                <a:latin typeface="Calibri"/>
                <a:ea typeface="Calibri"/>
              </a:rPr>
              <a:t>Referencias </a:t>
            </a:r>
            <a:endParaRPr lang="es-MX" sz="2600" b="0" strike="noStrike" spc="-1" dirty="0">
              <a:latin typeface="Arial"/>
            </a:endParaRPr>
          </a:p>
        </p:txBody>
      </p:sp>
      <p:sp>
        <p:nvSpPr>
          <p:cNvPr id="134" name="Google Shape;258;p17"/>
          <p:cNvSpPr/>
          <p:nvPr/>
        </p:nvSpPr>
        <p:spPr>
          <a:xfrm>
            <a:off x="252919" y="1251613"/>
            <a:ext cx="9322361" cy="332398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anchor="t">
            <a:spAutoFit/>
          </a:bodyPr>
          <a:lstStyle/>
          <a:p>
            <a:pPr algn="just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400" b="0" strike="noStrike" spc="-1" dirty="0">
                <a:solidFill>
                  <a:srgbClr val="000000"/>
                </a:solidFill>
                <a:latin typeface="Times New Roman"/>
                <a:ea typeface="Times New Roman"/>
              </a:rPr>
              <a:t>John A </a:t>
            </a:r>
            <a:r>
              <a:rPr lang="es-ES" sz="1400" b="0" strike="noStrike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Bullinaria</a:t>
            </a:r>
            <a:r>
              <a:rPr lang="es-ES" sz="1400" b="0" strike="noStrike" spc="-1" dirty="0">
                <a:solidFill>
                  <a:srgbClr val="000000"/>
                </a:solidFill>
                <a:latin typeface="Times New Roman"/>
                <a:ea typeface="Times New Roman"/>
              </a:rPr>
              <a:t>. </a:t>
            </a:r>
            <a:r>
              <a:rPr lang="es-ES" sz="1400" b="0" strike="noStrike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Evolved</a:t>
            </a:r>
            <a:r>
              <a:rPr lang="es-ES" sz="1400" b="0" strike="noStrike" spc="-1" dirty="0">
                <a:solidFill>
                  <a:srgbClr val="000000"/>
                </a:solidFill>
                <a:latin typeface="Times New Roman"/>
                <a:ea typeface="Times New Roman"/>
              </a:rPr>
              <a:t> dual </a:t>
            </a:r>
            <a:r>
              <a:rPr lang="es-ES" sz="1400" b="0" strike="noStrike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weight</a:t>
            </a:r>
            <a:r>
              <a:rPr lang="es-ES" sz="1400" b="0" strike="noStrike" spc="-1" dirty="0">
                <a:solidFill>
                  <a:srgbClr val="000000"/>
                </a:solidFill>
                <a:latin typeface="Times New Roman"/>
                <a:ea typeface="Times New Roman"/>
              </a:rPr>
              <a:t> neural </a:t>
            </a:r>
            <a:r>
              <a:rPr lang="es-ES" sz="1400" b="0" strike="noStrike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architectures</a:t>
            </a:r>
            <a:r>
              <a:rPr lang="es-ES" sz="1400" b="0" strike="noStrike" spc="-1" dirty="0">
                <a:solidFill>
                  <a:srgbClr val="000000"/>
                </a:solidFill>
                <a:latin typeface="Times New Roman"/>
                <a:ea typeface="Times New Roman"/>
              </a:rPr>
              <a:t> </a:t>
            </a:r>
            <a:r>
              <a:rPr lang="es-ES" sz="1400" b="0" strike="noStrike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to</a:t>
            </a:r>
            <a:r>
              <a:rPr lang="es-ES" sz="1400" b="0" strike="noStrike" spc="-1" dirty="0">
                <a:solidFill>
                  <a:srgbClr val="000000"/>
                </a:solidFill>
                <a:latin typeface="Times New Roman"/>
                <a:ea typeface="Times New Roman"/>
              </a:rPr>
              <a:t> </a:t>
            </a:r>
            <a:r>
              <a:rPr lang="es-ES" sz="1400" b="0" strike="noStrike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facilitate</a:t>
            </a:r>
            <a:r>
              <a:rPr lang="es-ES" sz="1400" b="0" strike="noStrike" spc="-1" dirty="0">
                <a:solidFill>
                  <a:srgbClr val="000000"/>
                </a:solidFill>
                <a:latin typeface="Times New Roman"/>
                <a:ea typeface="Times New Roman"/>
              </a:rPr>
              <a:t> incremental </a:t>
            </a:r>
            <a:r>
              <a:rPr lang="es-ES" sz="1400" b="0" strike="noStrike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learning</a:t>
            </a:r>
            <a:r>
              <a:rPr lang="es-ES" sz="1400" b="0" strike="noStrike" spc="-1" dirty="0">
                <a:solidFill>
                  <a:srgbClr val="000000"/>
                </a:solidFill>
                <a:latin typeface="Times New Roman"/>
                <a:ea typeface="Times New Roman"/>
              </a:rPr>
              <a:t>. In IJCCI, </a:t>
            </a:r>
            <a:r>
              <a:rPr lang="es-ES" sz="1400" b="0" strike="noStrike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pages</a:t>
            </a:r>
            <a:r>
              <a:rPr lang="es-ES" sz="1400" b="0" strike="noStrike" spc="-1" dirty="0">
                <a:solidFill>
                  <a:srgbClr val="000000"/>
                </a:solidFill>
                <a:latin typeface="Times New Roman"/>
                <a:ea typeface="Times New Roman"/>
              </a:rPr>
              <a:t> 427–434, 2009.</a:t>
            </a:r>
            <a:endParaRPr lang="es-MX" sz="1400" b="0" strike="noStrike" spc="-1" dirty="0">
              <a:latin typeface="Arial"/>
            </a:endParaRPr>
          </a:p>
          <a:p>
            <a:pPr algn="just">
              <a:lnSpc>
                <a:spcPct val="100000"/>
              </a:lnSpc>
              <a:buNone/>
              <a:tabLst>
                <a:tab pos="0" algn="l"/>
              </a:tabLst>
            </a:pPr>
            <a:endParaRPr lang="es-MX" sz="1400" b="0" strike="noStrike" spc="-1" dirty="0">
              <a:latin typeface="Arial"/>
            </a:endParaRPr>
          </a:p>
          <a:p>
            <a:pPr algn="just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400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Yuyang</a:t>
            </a:r>
            <a:r>
              <a:rPr lang="es-ES" sz="1400" spc="-1" dirty="0">
                <a:solidFill>
                  <a:srgbClr val="000000"/>
                </a:solidFill>
                <a:latin typeface="Times New Roman"/>
                <a:ea typeface="Times New Roman"/>
              </a:rPr>
              <a:t> Liu, </a:t>
            </a:r>
            <a:r>
              <a:rPr lang="es-ES" sz="1400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Qiuhe</a:t>
            </a:r>
            <a:r>
              <a:rPr lang="es-ES" sz="1400" spc="-1" dirty="0">
                <a:solidFill>
                  <a:srgbClr val="000000"/>
                </a:solidFill>
                <a:latin typeface="Times New Roman"/>
                <a:ea typeface="Times New Roman"/>
              </a:rPr>
              <a:t> Hong, </a:t>
            </a:r>
            <a:r>
              <a:rPr lang="es-ES" sz="1400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Linlan</a:t>
            </a:r>
            <a:r>
              <a:rPr lang="es-ES" sz="1400" spc="-1" dirty="0">
                <a:solidFill>
                  <a:srgbClr val="000000"/>
                </a:solidFill>
                <a:latin typeface="Times New Roman"/>
                <a:ea typeface="Times New Roman"/>
              </a:rPr>
              <a:t> Huang, Alexandra </a:t>
            </a:r>
            <a:r>
              <a:rPr lang="es-ES" sz="1400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Gomez</a:t>
            </a:r>
            <a:r>
              <a:rPr lang="es-ES" sz="1400" spc="-1" dirty="0">
                <a:solidFill>
                  <a:srgbClr val="000000"/>
                </a:solidFill>
                <a:latin typeface="Times New Roman"/>
                <a:ea typeface="Times New Roman"/>
              </a:rPr>
              <a:t>-Villa, </a:t>
            </a:r>
            <a:r>
              <a:rPr lang="es-ES" sz="1400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Dipam</a:t>
            </a:r>
            <a:r>
              <a:rPr lang="es-ES" sz="1400" spc="-1" dirty="0">
                <a:solidFill>
                  <a:srgbClr val="000000"/>
                </a:solidFill>
                <a:latin typeface="Times New Roman"/>
                <a:ea typeface="Times New Roman"/>
              </a:rPr>
              <a:t> </a:t>
            </a:r>
            <a:r>
              <a:rPr lang="es-ES" sz="1400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Goswami</a:t>
            </a:r>
            <a:r>
              <a:rPr lang="es-ES" sz="1400" spc="-1" dirty="0">
                <a:solidFill>
                  <a:srgbClr val="000000"/>
                </a:solidFill>
                <a:latin typeface="Times New Roman"/>
                <a:ea typeface="Times New Roman"/>
              </a:rPr>
              <a:t>, </a:t>
            </a:r>
            <a:r>
              <a:rPr lang="es-ES" sz="1400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Xialei</a:t>
            </a:r>
            <a:r>
              <a:rPr lang="es-ES" sz="1400" spc="-1" dirty="0">
                <a:solidFill>
                  <a:srgbClr val="000000"/>
                </a:solidFill>
                <a:latin typeface="Times New Roman"/>
                <a:ea typeface="Times New Roman"/>
              </a:rPr>
              <a:t> Liu, Joost van de </a:t>
            </a:r>
            <a:r>
              <a:rPr lang="es-ES" sz="1400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Weijer</a:t>
            </a:r>
            <a:r>
              <a:rPr lang="es-ES" sz="1400" spc="-1" dirty="0">
                <a:solidFill>
                  <a:srgbClr val="000000"/>
                </a:solidFill>
                <a:latin typeface="Times New Roman"/>
                <a:ea typeface="Times New Roman"/>
              </a:rPr>
              <a:t>, and </a:t>
            </a:r>
            <a:r>
              <a:rPr lang="es-ES" sz="1400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Yonghong</a:t>
            </a:r>
            <a:r>
              <a:rPr lang="es-ES" sz="1400" spc="-1" dirty="0">
                <a:solidFill>
                  <a:srgbClr val="000000"/>
                </a:solidFill>
                <a:latin typeface="Times New Roman"/>
                <a:ea typeface="Times New Roman"/>
              </a:rPr>
              <a:t> </a:t>
            </a:r>
            <a:r>
              <a:rPr lang="es-ES" sz="1400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Tian</a:t>
            </a:r>
            <a:r>
              <a:rPr lang="es-ES" sz="1400" spc="-1" dirty="0">
                <a:solidFill>
                  <a:srgbClr val="000000"/>
                </a:solidFill>
                <a:latin typeface="Times New Roman"/>
                <a:ea typeface="Times New Roman"/>
              </a:rPr>
              <a:t>. </a:t>
            </a:r>
            <a:r>
              <a:rPr lang="es-ES" sz="1400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Continual</a:t>
            </a:r>
            <a:r>
              <a:rPr lang="es-ES" sz="1400" spc="-1" dirty="0">
                <a:solidFill>
                  <a:srgbClr val="000000"/>
                </a:solidFill>
                <a:latin typeface="Times New Roman"/>
                <a:ea typeface="Times New Roman"/>
              </a:rPr>
              <a:t> </a:t>
            </a:r>
            <a:r>
              <a:rPr lang="es-ES" sz="1400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learning</a:t>
            </a:r>
            <a:r>
              <a:rPr lang="es-ES" sz="1400" spc="-1" dirty="0">
                <a:solidFill>
                  <a:srgbClr val="000000"/>
                </a:solidFill>
                <a:latin typeface="Times New Roman"/>
                <a:ea typeface="Times New Roman"/>
              </a:rPr>
              <a:t> </a:t>
            </a:r>
            <a:r>
              <a:rPr lang="es-ES" sz="1400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for</a:t>
            </a:r>
            <a:r>
              <a:rPr lang="es-ES" sz="1400" spc="-1" dirty="0">
                <a:solidFill>
                  <a:srgbClr val="000000"/>
                </a:solidFill>
                <a:latin typeface="Times New Roman"/>
                <a:ea typeface="Times New Roman"/>
              </a:rPr>
              <a:t> </a:t>
            </a:r>
            <a:r>
              <a:rPr lang="es-ES" sz="1400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vlms</a:t>
            </a:r>
            <a:r>
              <a:rPr lang="es-ES" sz="1400" spc="-1" dirty="0">
                <a:solidFill>
                  <a:srgbClr val="000000"/>
                </a:solidFill>
                <a:latin typeface="Times New Roman"/>
                <a:ea typeface="Times New Roman"/>
              </a:rPr>
              <a:t>: A </a:t>
            </a:r>
            <a:r>
              <a:rPr lang="es-ES" sz="1400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survey</a:t>
            </a:r>
            <a:r>
              <a:rPr lang="es-ES" sz="1400" spc="-1" dirty="0">
                <a:solidFill>
                  <a:srgbClr val="000000"/>
                </a:solidFill>
                <a:latin typeface="Times New Roman"/>
                <a:ea typeface="Times New Roman"/>
              </a:rPr>
              <a:t> and </a:t>
            </a:r>
            <a:r>
              <a:rPr lang="es-ES" sz="1400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taxonomy</a:t>
            </a:r>
            <a:r>
              <a:rPr lang="es-ES" sz="1400" spc="-1" dirty="0">
                <a:solidFill>
                  <a:srgbClr val="000000"/>
                </a:solidFill>
                <a:latin typeface="Times New Roman"/>
                <a:ea typeface="Times New Roman"/>
              </a:rPr>
              <a:t> </a:t>
            </a:r>
            <a:r>
              <a:rPr lang="es-ES" sz="1400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beyond</a:t>
            </a:r>
            <a:r>
              <a:rPr lang="es-ES" sz="1400" spc="-1" dirty="0">
                <a:solidFill>
                  <a:srgbClr val="000000"/>
                </a:solidFill>
                <a:latin typeface="Times New Roman"/>
                <a:ea typeface="Times New Roman"/>
              </a:rPr>
              <a:t> </a:t>
            </a:r>
            <a:r>
              <a:rPr lang="es-ES" sz="1400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forgetting</a:t>
            </a:r>
            <a:r>
              <a:rPr lang="es-ES" sz="1400" spc="-1" dirty="0">
                <a:solidFill>
                  <a:srgbClr val="000000"/>
                </a:solidFill>
                <a:latin typeface="Times New Roman"/>
                <a:ea typeface="Times New Roman"/>
              </a:rPr>
              <a:t>. </a:t>
            </a:r>
            <a:r>
              <a:rPr lang="es-ES" sz="1400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arXiv</a:t>
            </a:r>
            <a:r>
              <a:rPr lang="es-ES" sz="1400" spc="-1" dirty="0">
                <a:solidFill>
                  <a:srgbClr val="000000"/>
                </a:solidFill>
                <a:latin typeface="Times New Roman"/>
                <a:ea typeface="Times New Roman"/>
              </a:rPr>
              <a:t> </a:t>
            </a:r>
            <a:r>
              <a:rPr lang="es-ES" sz="1400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preprint</a:t>
            </a:r>
            <a:r>
              <a:rPr lang="es-ES" sz="1400" spc="-1" dirty="0">
                <a:solidFill>
                  <a:srgbClr val="000000"/>
                </a:solidFill>
                <a:latin typeface="Times New Roman"/>
                <a:ea typeface="Times New Roman"/>
              </a:rPr>
              <a:t> arXiv:2508.04227, 2025.</a:t>
            </a:r>
          </a:p>
          <a:p>
            <a:pPr algn="just">
              <a:lnSpc>
                <a:spcPct val="100000"/>
              </a:lnSpc>
              <a:buNone/>
              <a:tabLst>
                <a:tab pos="0" algn="l"/>
              </a:tabLst>
            </a:pPr>
            <a:endParaRPr lang="es-MX" sz="1400" b="0" strike="noStrike" spc="-1" dirty="0">
              <a:latin typeface="Arial"/>
            </a:endParaRPr>
          </a:p>
          <a:p>
            <a:pPr algn="just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400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Krisanu</a:t>
            </a:r>
            <a:r>
              <a:rPr lang="es-ES" sz="1400" spc="-1" dirty="0">
                <a:solidFill>
                  <a:srgbClr val="000000"/>
                </a:solidFill>
                <a:latin typeface="Times New Roman"/>
                <a:ea typeface="Times New Roman"/>
              </a:rPr>
              <a:t> </a:t>
            </a:r>
            <a:r>
              <a:rPr lang="es-ES" sz="1400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Sarkar</a:t>
            </a:r>
            <a:r>
              <a:rPr lang="es-ES" sz="1400" spc="-1" dirty="0">
                <a:solidFill>
                  <a:srgbClr val="000000"/>
                </a:solidFill>
                <a:latin typeface="Times New Roman"/>
                <a:ea typeface="Times New Roman"/>
              </a:rPr>
              <a:t>. Adaptive </a:t>
            </a:r>
            <a:r>
              <a:rPr lang="es-ES" sz="1400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variance-penalized</a:t>
            </a:r>
            <a:r>
              <a:rPr lang="es-ES" sz="1400" spc="-1" dirty="0">
                <a:solidFill>
                  <a:srgbClr val="000000"/>
                </a:solidFill>
                <a:latin typeface="Times New Roman"/>
                <a:ea typeface="Times New Roman"/>
              </a:rPr>
              <a:t> </a:t>
            </a:r>
            <a:r>
              <a:rPr lang="es-ES" sz="1400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continual</a:t>
            </a:r>
            <a:r>
              <a:rPr lang="es-ES" sz="1400" spc="-1" dirty="0">
                <a:solidFill>
                  <a:srgbClr val="000000"/>
                </a:solidFill>
                <a:latin typeface="Times New Roman"/>
                <a:ea typeface="Times New Roman"/>
              </a:rPr>
              <a:t> </a:t>
            </a:r>
            <a:r>
              <a:rPr lang="es-ES" sz="1400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learning</a:t>
            </a:r>
            <a:r>
              <a:rPr lang="es-ES" sz="1400" spc="-1" dirty="0">
                <a:solidFill>
                  <a:srgbClr val="000000"/>
                </a:solidFill>
                <a:latin typeface="Times New Roman"/>
                <a:ea typeface="Times New Roman"/>
              </a:rPr>
              <a:t> </a:t>
            </a:r>
            <a:r>
              <a:rPr lang="es-ES" sz="1400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with</a:t>
            </a:r>
            <a:r>
              <a:rPr lang="es-ES" sz="1400" spc="-1" dirty="0">
                <a:solidFill>
                  <a:srgbClr val="000000"/>
                </a:solidFill>
                <a:latin typeface="Times New Roman"/>
                <a:ea typeface="Times New Roman"/>
              </a:rPr>
              <a:t> </a:t>
            </a:r>
            <a:r>
              <a:rPr lang="es-ES" sz="1400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fisher</a:t>
            </a:r>
            <a:r>
              <a:rPr lang="es-ES" sz="1400" spc="-1" dirty="0">
                <a:solidFill>
                  <a:srgbClr val="000000"/>
                </a:solidFill>
                <a:latin typeface="Times New Roman"/>
                <a:ea typeface="Times New Roman"/>
              </a:rPr>
              <a:t> </a:t>
            </a:r>
            <a:r>
              <a:rPr lang="es-ES" sz="1400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regularization</a:t>
            </a:r>
            <a:r>
              <a:rPr lang="es-ES" sz="1400" spc="-1" dirty="0">
                <a:solidFill>
                  <a:srgbClr val="000000"/>
                </a:solidFill>
                <a:latin typeface="Times New Roman"/>
                <a:ea typeface="Times New Roman"/>
              </a:rPr>
              <a:t>. </a:t>
            </a:r>
            <a:r>
              <a:rPr lang="es-ES" sz="1400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arXiv</a:t>
            </a:r>
            <a:r>
              <a:rPr lang="es-ES" sz="1400" spc="-1" dirty="0">
                <a:solidFill>
                  <a:srgbClr val="000000"/>
                </a:solidFill>
                <a:latin typeface="Times New Roman"/>
                <a:ea typeface="Times New Roman"/>
              </a:rPr>
              <a:t> </a:t>
            </a:r>
            <a:r>
              <a:rPr lang="es-ES" sz="1400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preprint</a:t>
            </a:r>
            <a:r>
              <a:rPr lang="es-ES" sz="1400" spc="-1" dirty="0">
                <a:solidFill>
                  <a:srgbClr val="000000"/>
                </a:solidFill>
                <a:latin typeface="Times New Roman"/>
                <a:ea typeface="Times New Roman"/>
              </a:rPr>
              <a:t> arXiv:2508.16632, 2025.</a:t>
            </a:r>
          </a:p>
          <a:p>
            <a:pPr algn="just">
              <a:lnSpc>
                <a:spcPct val="100000"/>
              </a:lnSpc>
              <a:buNone/>
              <a:tabLst>
                <a:tab pos="0" algn="l"/>
              </a:tabLst>
            </a:pPr>
            <a:endParaRPr lang="es-MX" sz="1400" b="0" strike="noStrike" spc="-1" dirty="0">
              <a:latin typeface="Arial"/>
            </a:endParaRPr>
          </a:p>
          <a:p>
            <a:pPr algn="just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400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Xing</a:t>
            </a:r>
            <a:r>
              <a:rPr lang="es-ES" sz="1400" spc="-1" dirty="0">
                <a:solidFill>
                  <a:srgbClr val="000000"/>
                </a:solidFill>
                <a:latin typeface="Times New Roman"/>
                <a:ea typeface="Times New Roman"/>
              </a:rPr>
              <a:t> Wei, </a:t>
            </a:r>
            <a:r>
              <a:rPr lang="es-ES" sz="1400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Shaofan</a:t>
            </a:r>
            <a:r>
              <a:rPr lang="es-ES" sz="1400" spc="-1" dirty="0">
                <a:solidFill>
                  <a:srgbClr val="000000"/>
                </a:solidFill>
                <a:latin typeface="Times New Roman"/>
                <a:ea typeface="Times New Roman"/>
              </a:rPr>
              <a:t> Liu, </a:t>
            </a:r>
            <a:r>
              <a:rPr lang="es-ES" sz="1400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Yaoci</a:t>
            </a:r>
            <a:r>
              <a:rPr lang="es-ES" sz="1400" spc="-1" dirty="0">
                <a:solidFill>
                  <a:srgbClr val="000000"/>
                </a:solidFill>
                <a:latin typeface="Times New Roman"/>
                <a:ea typeface="Times New Roman"/>
              </a:rPr>
              <a:t> </a:t>
            </a:r>
            <a:r>
              <a:rPr lang="es-ES" sz="1400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Xiang</a:t>
            </a:r>
            <a:r>
              <a:rPr lang="es-ES" sz="1400" spc="-1" dirty="0">
                <a:solidFill>
                  <a:srgbClr val="000000"/>
                </a:solidFill>
                <a:latin typeface="Times New Roman"/>
                <a:ea typeface="Times New Roman"/>
              </a:rPr>
              <a:t>, </a:t>
            </a:r>
            <a:r>
              <a:rPr lang="es-ES" sz="1400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Zhangling</a:t>
            </a:r>
            <a:r>
              <a:rPr lang="es-ES" sz="1400" spc="-1" dirty="0">
                <a:solidFill>
                  <a:srgbClr val="000000"/>
                </a:solidFill>
                <a:latin typeface="Times New Roman"/>
                <a:ea typeface="Times New Roman"/>
              </a:rPr>
              <a:t> </a:t>
            </a:r>
            <a:r>
              <a:rPr lang="es-ES" sz="1400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Duan</a:t>
            </a:r>
            <a:r>
              <a:rPr lang="es-ES" sz="1400" spc="-1" dirty="0">
                <a:solidFill>
                  <a:srgbClr val="000000"/>
                </a:solidFill>
                <a:latin typeface="Times New Roman"/>
                <a:ea typeface="Times New Roman"/>
              </a:rPr>
              <a:t>, Chong Zhao, and Yang Lu. Incremental </a:t>
            </a:r>
            <a:r>
              <a:rPr lang="es-ES" sz="1400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learning</a:t>
            </a:r>
            <a:r>
              <a:rPr lang="es-ES" sz="1400" spc="-1" dirty="0">
                <a:solidFill>
                  <a:srgbClr val="000000"/>
                </a:solidFill>
                <a:latin typeface="Times New Roman"/>
                <a:ea typeface="Times New Roman"/>
              </a:rPr>
              <a:t> </a:t>
            </a:r>
            <a:r>
              <a:rPr lang="es-ES" sz="1400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based</a:t>
            </a:r>
            <a:r>
              <a:rPr lang="es-ES" sz="1400" spc="-1" dirty="0">
                <a:solidFill>
                  <a:srgbClr val="000000"/>
                </a:solidFill>
                <a:latin typeface="Times New Roman"/>
                <a:ea typeface="Times New Roman"/>
              </a:rPr>
              <a:t> multi-</a:t>
            </a:r>
            <a:r>
              <a:rPr lang="es-ES" sz="1400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domain</a:t>
            </a:r>
            <a:r>
              <a:rPr lang="es-ES" sz="1400" spc="-1" dirty="0">
                <a:solidFill>
                  <a:srgbClr val="000000"/>
                </a:solidFill>
                <a:latin typeface="Times New Roman"/>
                <a:ea typeface="Times New Roman"/>
              </a:rPr>
              <a:t> </a:t>
            </a:r>
            <a:r>
              <a:rPr lang="es-ES" sz="1400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adaptation</a:t>
            </a:r>
            <a:r>
              <a:rPr lang="es-ES" sz="1400" spc="-1" dirty="0">
                <a:solidFill>
                  <a:srgbClr val="000000"/>
                </a:solidFill>
                <a:latin typeface="Times New Roman"/>
                <a:ea typeface="Times New Roman"/>
              </a:rPr>
              <a:t> </a:t>
            </a:r>
            <a:r>
              <a:rPr lang="es-ES" sz="1400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for</a:t>
            </a:r>
            <a:r>
              <a:rPr lang="es-ES" sz="1400" spc="-1" dirty="0">
                <a:solidFill>
                  <a:srgbClr val="000000"/>
                </a:solidFill>
                <a:latin typeface="Times New Roman"/>
                <a:ea typeface="Times New Roman"/>
              </a:rPr>
              <a:t> </a:t>
            </a:r>
            <a:r>
              <a:rPr lang="es-ES" sz="1400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object</a:t>
            </a:r>
            <a:r>
              <a:rPr lang="es-ES" sz="1400" spc="-1" dirty="0">
                <a:solidFill>
                  <a:srgbClr val="000000"/>
                </a:solidFill>
                <a:latin typeface="Times New Roman"/>
                <a:ea typeface="Times New Roman"/>
              </a:rPr>
              <a:t> </a:t>
            </a:r>
            <a:r>
              <a:rPr lang="es-ES" sz="1400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detection</a:t>
            </a:r>
            <a:r>
              <a:rPr lang="es-ES" sz="1400" spc="-1" dirty="0">
                <a:solidFill>
                  <a:srgbClr val="000000"/>
                </a:solidFill>
                <a:latin typeface="Times New Roman"/>
                <a:ea typeface="Times New Roman"/>
              </a:rPr>
              <a:t>. </a:t>
            </a:r>
            <a:r>
              <a:rPr lang="es-ES" sz="1400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Knowledge-Based</a:t>
            </a:r>
            <a:r>
              <a:rPr lang="es-ES" sz="1400" spc="-1" dirty="0">
                <a:solidFill>
                  <a:srgbClr val="000000"/>
                </a:solidFill>
                <a:latin typeface="Times New Roman"/>
                <a:ea typeface="Times New Roman"/>
              </a:rPr>
              <a:t> </a:t>
            </a:r>
            <a:r>
              <a:rPr lang="es-ES" sz="1400" spc="-1" dirty="0" err="1">
                <a:solidFill>
                  <a:srgbClr val="000000"/>
                </a:solidFill>
                <a:latin typeface="Times New Roman"/>
                <a:ea typeface="Times New Roman"/>
              </a:rPr>
              <a:t>Systems</a:t>
            </a:r>
            <a:r>
              <a:rPr lang="es-ES" sz="1400" spc="-1" dirty="0">
                <a:solidFill>
                  <a:srgbClr val="000000"/>
                </a:solidFill>
                <a:latin typeface="Times New Roman"/>
                <a:ea typeface="Times New Roman"/>
              </a:rPr>
              <a:t>, 210:106420, 2020.</a:t>
            </a:r>
          </a:p>
          <a:p>
            <a:pPr algn="just">
              <a:lnSpc>
                <a:spcPct val="100000"/>
              </a:lnSpc>
              <a:buNone/>
              <a:tabLst>
                <a:tab pos="0" algn="l"/>
              </a:tabLst>
            </a:pPr>
            <a:endParaRPr lang="es-ES" sz="1400" spc="-1" dirty="0">
              <a:solidFill>
                <a:srgbClr val="000000"/>
              </a:solidFill>
              <a:latin typeface="Times New Roman"/>
              <a:ea typeface="Times New Roman"/>
            </a:endParaRPr>
          </a:p>
          <a:p>
            <a:pPr algn="just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MX" sz="1400" spc="-1" dirty="0"/>
              <a:t>rancesco Cerasuolo, Alfredo Nascita, Giampaolo Bovenzi, Giuseppe Aceto, Domenico Ciuonzo, Antonio</a:t>
            </a:r>
          </a:p>
          <a:p>
            <a:pPr algn="just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MX" sz="1400" spc="-1" dirty="0"/>
              <a:t>Pescapè, and Dario Rossi. Memento: A novel approach for class incremental learning of encrypted traffic.</a:t>
            </a:r>
          </a:p>
          <a:p>
            <a:pPr algn="just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MX" sz="1400" spc="-1" dirty="0"/>
              <a:t>Computer Networks, 245:110374, 2024</a:t>
            </a:r>
            <a:endParaRPr lang="es-MX" sz="1400" b="0" strike="noStrike" spc="-1" dirty="0">
              <a:latin typeface="Arial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7AD380-86D5-91BF-5CEA-034D5AC6677E}"/>
              </a:ext>
            </a:extLst>
          </p:cNvPr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B99B1A2D-D4B6-4047-AD69-D754256AF902}" type="slidenum">
              <a:rPr lang="en-MX" smtClean="0"/>
              <a:t>14</a:t>
            </a:fld>
            <a:endParaRPr lang="en-MX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264;p18"/>
          <p:cNvPicPr/>
          <p:nvPr/>
        </p:nvPicPr>
        <p:blipFill>
          <a:blip r:embed="rId2"/>
          <a:stretch/>
        </p:blipFill>
        <p:spPr>
          <a:xfrm>
            <a:off x="559800" y="-1440"/>
            <a:ext cx="5535360" cy="5671080"/>
          </a:xfrm>
          <a:prstGeom prst="rect">
            <a:avLst/>
          </a:prstGeom>
          <a:ln w="0">
            <a:noFill/>
          </a:ln>
        </p:spPr>
      </p:pic>
      <p:pic>
        <p:nvPicPr>
          <p:cNvPr id="137" name="Google Shape;265;p18"/>
          <p:cNvPicPr/>
          <p:nvPr/>
        </p:nvPicPr>
        <p:blipFill>
          <a:blip r:embed="rId3"/>
          <a:stretch/>
        </p:blipFill>
        <p:spPr>
          <a:xfrm>
            <a:off x="-98640" y="0"/>
            <a:ext cx="2709720" cy="5669640"/>
          </a:xfrm>
          <a:prstGeom prst="rect">
            <a:avLst/>
          </a:prstGeom>
          <a:ln w="0">
            <a:noFill/>
          </a:ln>
        </p:spPr>
      </p:pic>
      <p:sp>
        <p:nvSpPr>
          <p:cNvPr id="138" name="Google Shape;266;p18"/>
          <p:cNvSpPr/>
          <p:nvPr/>
        </p:nvSpPr>
        <p:spPr>
          <a:xfrm>
            <a:off x="2517120" y="139680"/>
            <a:ext cx="7626960" cy="1936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MX" b="1" dirty="0"/>
              <a:t>Modelado de un Esquema de Aprendizaje Incremental con Memoria Distribuida en Redes Neuronales Artificiales</a:t>
            </a:r>
            <a:br>
              <a:rPr lang="es-ES" dirty="0"/>
            </a:br>
            <a:endParaRPr lang="es-MX" sz="2400" spc="-1" dirty="0"/>
          </a:p>
        </p:txBody>
      </p:sp>
      <p:sp>
        <p:nvSpPr>
          <p:cNvPr id="139" name="Google Shape;267;p18"/>
          <p:cNvSpPr/>
          <p:nvPr/>
        </p:nvSpPr>
        <p:spPr>
          <a:xfrm>
            <a:off x="2611440" y="1356120"/>
            <a:ext cx="7392960" cy="271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endParaRPr lang="es-MX" sz="2200" spc="-1" dirty="0"/>
          </a:p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300" spc="-1" dirty="0">
                <a:solidFill>
                  <a:srgbClr val="000000"/>
                </a:solidFill>
                <a:latin typeface="Calibri"/>
                <a:ea typeface="Calibri"/>
              </a:rPr>
              <a:t>P r e s e n t a</a:t>
            </a:r>
            <a:endParaRPr lang="es-MX" sz="2300" spc="-1" dirty="0"/>
          </a:p>
          <a:p>
            <a:pPr algn="just">
              <a:lnSpc>
                <a:spcPct val="100000"/>
              </a:lnSpc>
              <a:buNone/>
              <a:tabLst>
                <a:tab pos="0" algn="l"/>
              </a:tabLst>
            </a:pPr>
            <a:endParaRPr lang="es-MX" sz="2000" spc="-1" dirty="0"/>
          </a:p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endParaRPr lang="es-MX" sz="2200" spc="-1" dirty="0"/>
          </a:p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200" spc="-1" dirty="0">
                <a:solidFill>
                  <a:srgbClr val="000000"/>
                </a:solidFill>
                <a:latin typeface="Calibri"/>
                <a:ea typeface="Calibri"/>
              </a:rPr>
              <a:t>Ing. González Hernández Luis Ángel</a:t>
            </a:r>
            <a:endParaRPr lang="es-MX" sz="2200" spc="-1" dirty="0"/>
          </a:p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endParaRPr lang="es-MX" sz="2200" spc="-1" dirty="0"/>
          </a:p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200" spc="-1" dirty="0">
                <a:solidFill>
                  <a:srgbClr val="000000"/>
                </a:solidFill>
                <a:latin typeface="Calibri"/>
                <a:ea typeface="Calibri"/>
              </a:rPr>
              <a:t>Director: Dr. en C.C. Víctor Manuel </a:t>
            </a:r>
            <a:r>
              <a:rPr lang="es-ES" sz="2200" spc="-1" dirty="0" err="1">
                <a:solidFill>
                  <a:srgbClr val="000000"/>
                </a:solidFill>
                <a:latin typeface="Calibri"/>
                <a:ea typeface="Calibri"/>
              </a:rPr>
              <a:t>Landassuri</a:t>
            </a:r>
            <a:r>
              <a:rPr lang="es-ES" sz="2200" spc="-1" dirty="0">
                <a:solidFill>
                  <a:srgbClr val="000000"/>
                </a:solidFill>
                <a:latin typeface="Calibri"/>
                <a:ea typeface="Calibri"/>
              </a:rPr>
              <a:t> Moreno </a:t>
            </a:r>
          </a:p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200" spc="-1" dirty="0">
                <a:solidFill>
                  <a:srgbClr val="000000"/>
                </a:solidFill>
                <a:latin typeface="Calibri"/>
              </a:rPr>
              <a:t>Co-Director: Dr. en C.C. Leandro L. </a:t>
            </a:r>
            <a:r>
              <a:rPr lang="es-ES" sz="2200" spc="-1" dirty="0" err="1">
                <a:solidFill>
                  <a:srgbClr val="000000"/>
                </a:solidFill>
                <a:latin typeface="Calibri"/>
              </a:rPr>
              <a:t>Minku</a:t>
            </a:r>
            <a:endParaRPr lang="es-ES" sz="2200" spc="-1" dirty="0">
              <a:solidFill>
                <a:srgbClr val="000000"/>
              </a:solidFill>
              <a:latin typeface="Calibri"/>
            </a:endParaRPr>
          </a:p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200" spc="-1" dirty="0">
                <a:solidFill>
                  <a:srgbClr val="000000"/>
                </a:solidFill>
                <a:latin typeface="Calibri"/>
              </a:rPr>
              <a:t>Tutora: Dr. en C.C Maricela Quintana López</a:t>
            </a:r>
            <a:endParaRPr lang="es-MX" sz="2200" spc="-1" dirty="0"/>
          </a:p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endParaRPr lang="es-MX" sz="2200" spc="-1" dirty="0"/>
          </a:p>
        </p:txBody>
      </p:sp>
      <p:sp>
        <p:nvSpPr>
          <p:cNvPr id="140" name="Google Shape;268;p18"/>
          <p:cNvSpPr/>
          <p:nvPr/>
        </p:nvSpPr>
        <p:spPr>
          <a:xfrm>
            <a:off x="2611440" y="5056200"/>
            <a:ext cx="7468200" cy="60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 fontScale="98000"/>
          </a:bodyPr>
          <a:lstStyle/>
          <a:p>
            <a:pPr algn="ctr">
              <a:lnSpc>
                <a:spcPct val="90000"/>
              </a:lnSpc>
              <a:buNone/>
              <a:tabLst>
                <a:tab pos="0" algn="l"/>
              </a:tabLst>
            </a:pPr>
            <a:endParaRPr lang="es-MX" sz="1800" b="0" strike="noStrike" spc="-1" dirty="0">
              <a:latin typeface="Arial"/>
            </a:endParaRPr>
          </a:p>
          <a:p>
            <a:pPr algn="r">
              <a:lnSpc>
                <a:spcPct val="90000"/>
              </a:lnSpc>
              <a:buNone/>
              <a:tabLst>
                <a:tab pos="0" algn="l"/>
              </a:tabLst>
            </a:pPr>
            <a:r>
              <a:rPr lang="es-ES" spc="-1" dirty="0">
                <a:solidFill>
                  <a:srgbClr val="000000"/>
                </a:solidFill>
                <a:latin typeface="Calibri"/>
                <a:ea typeface="Calibri"/>
              </a:rPr>
              <a:t>Atizapán de Zaragoza, Edo. de Méx. 2 de Diciembre de 2025</a:t>
            </a:r>
            <a:endParaRPr lang="es-MX" spc="-1" dirty="0"/>
          </a:p>
          <a:p>
            <a:pPr algn="ctr">
              <a:lnSpc>
                <a:spcPct val="90000"/>
              </a:lnSpc>
              <a:buNone/>
              <a:tabLst>
                <a:tab pos="0" algn="l"/>
              </a:tabLst>
            </a:pPr>
            <a:endParaRPr lang="es-MX" sz="1800" b="0" strike="noStrike" spc="-1" dirty="0">
              <a:latin typeface="Arial"/>
            </a:endParaRPr>
          </a:p>
        </p:txBody>
      </p:sp>
      <p:sp>
        <p:nvSpPr>
          <p:cNvPr id="141" name="Google Shape;269;p18"/>
          <p:cNvSpPr/>
          <p:nvPr/>
        </p:nvSpPr>
        <p:spPr>
          <a:xfrm>
            <a:off x="2612160" y="4227840"/>
            <a:ext cx="7468200" cy="504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000" b="1" spc="-1" dirty="0">
                <a:solidFill>
                  <a:srgbClr val="000000"/>
                </a:solidFill>
                <a:latin typeface="Calibri"/>
                <a:ea typeface="Calibri"/>
              </a:rPr>
              <a:t>Coloquio de Maestría </a:t>
            </a:r>
            <a:endParaRPr lang="es-MX" sz="2000" spc="-1" dirty="0"/>
          </a:p>
        </p:txBody>
      </p:sp>
      <p:pic>
        <p:nvPicPr>
          <p:cNvPr id="142" name="Google Shape;270;p18"/>
          <p:cNvPicPr/>
          <p:nvPr/>
        </p:nvPicPr>
        <p:blipFill>
          <a:blip r:embed="rId4"/>
          <a:stretch/>
        </p:blipFill>
        <p:spPr>
          <a:xfrm>
            <a:off x="538920" y="328680"/>
            <a:ext cx="1434960" cy="946800"/>
          </a:xfrm>
          <a:prstGeom prst="rect">
            <a:avLst/>
          </a:prstGeom>
          <a:ln w="0">
            <a:noFill/>
          </a:ln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B075C1E-A4F2-24D0-978B-9E389FAE08CD}"/>
              </a:ext>
            </a:extLst>
          </p:cNvPr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B99B1A2D-D4B6-4047-AD69-D754256AF902}" type="slidenum">
              <a:rPr lang="en-MX" smtClean="0"/>
              <a:t>15</a:t>
            </a:fld>
            <a:endParaRPr lang="en-MX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432</TotalTime>
  <Words>656</Words>
  <Application>Microsoft Macintosh PowerPoint</Application>
  <PresentationFormat>Custom</PresentationFormat>
  <Paragraphs>114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Aptos</vt:lpstr>
      <vt:lpstr>Arial</vt:lpstr>
      <vt:lpstr>Calibri</vt:lpstr>
      <vt:lpstr>Symbol</vt:lpstr>
      <vt:lpstr>Times New Roman</vt:lpstr>
      <vt:lpstr>Wingdings</vt:lpstr>
      <vt:lpstr>Office Theme</vt:lpstr>
      <vt:lpstr>PowerPoint Presentation</vt:lpstr>
      <vt:lpstr>Contenido</vt:lpstr>
      <vt:lpstr>Planteamiento del Problema</vt:lpstr>
      <vt:lpstr>PowerPoint Presentation</vt:lpstr>
      <vt:lpstr>PowerPoint Presentation</vt:lpstr>
      <vt:lpstr>PowerPoint Presentation</vt:lpstr>
      <vt:lpstr>Redes Neuronales de Perceptrón Multicapa</vt:lpstr>
      <vt:lpstr>Backpropagation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dc:description/>
  <cp:lastModifiedBy>Luis Angel Gonzalez Hernandez</cp:lastModifiedBy>
  <cp:revision>16</cp:revision>
  <dcterms:created xsi:type="dcterms:W3CDTF">2022-11-08T19:43:34Z</dcterms:created>
  <dcterms:modified xsi:type="dcterms:W3CDTF">2025-12-02T05:52:50Z</dcterms:modified>
  <dc:language>es-MX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18</vt:i4>
  </property>
  <property fmtid="{D5CDD505-2E9C-101B-9397-08002B2CF9AE}" pid="3" name="PresentationFormat">
    <vt:lpwstr>Personalizado</vt:lpwstr>
  </property>
  <property fmtid="{D5CDD505-2E9C-101B-9397-08002B2CF9AE}" pid="4" name="Slides">
    <vt:i4>18</vt:i4>
  </property>
</Properties>
</file>