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1" r:id="rId5"/>
    <p:sldId id="262" r:id="rId6"/>
    <p:sldId id="266" r:id="rId7"/>
    <p:sldId id="274" r:id="rId8"/>
    <p:sldId id="269" r:id="rId9"/>
    <p:sldId id="270" r:id="rId10"/>
    <p:sldId id="271" r:id="rId11"/>
    <p:sldId id="272" r:id="rId12"/>
    <p:sldId id="273" r:id="rId13"/>
  </p:sldIdLst>
  <p:sldSz cx="10080625" cy="5670550"/>
  <p:notesSz cx="7772400" cy="100584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74"/>
    <p:restoredTop sz="94729"/>
  </p:normalViewPr>
  <p:slideViewPr>
    <p:cSldViewPr snapToGrid="0">
      <p:cViewPr varScale="1">
        <p:scale>
          <a:sx n="107" d="100"/>
          <a:sy n="107" d="100"/>
        </p:scale>
        <p:origin x="18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BEF06D-FC33-634B-B721-76142CCAC50A}" type="datetimeFigureOut">
              <a:rPr lang="en-MX" smtClean="0"/>
              <a:t>29/11/25</a:t>
            </a:fld>
            <a:endParaRPr lang="en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FC98F-22EC-DB41-94F5-E1413C8D6324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033117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FC98F-22EC-DB41-94F5-E1413C8D6324}" type="slidenum">
              <a:rPr lang="en-MX" smtClean="0"/>
              <a:t>3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918335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33C965C-57F0-4EFA-8330-4D645A53DAC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MX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4FF14DA-8214-40E8-B1B6-F43962993D0D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99B1A2D-D4B6-4047-AD69-D754256AF90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A95F38C-8DB6-43CA-B485-86B3FBAACB3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993FC5A-F41C-4E11-94C4-8DAB70BC735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MX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207C22F-B5F1-4C30-BCFA-1088E25EF5D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287825A-E755-484E-9B53-2A67A06ECC5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ABDD420-482A-41AE-9A7A-D40DD99702E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70C2C9B-4B9F-49D1-8EF5-3E6815FE07D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FCC4EA0-3245-4EA0-AD5D-F3F37F97BBE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EC06DC0-852D-401A-BF90-458319EFDB19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5D7CA19-BAB1-4EB4-8CA7-5EA03982EFA2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s-MX" sz="44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ctr">
              <a:buNone/>
              <a:defRPr lang="es-MX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s-MX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182B3DC-6ABB-4873-B39D-0ECED351596B}" type="slidenum">
              <a: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‹#›</a:t>
            </a:fld>
            <a:endParaRPr lang="es-MX" sz="1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defRPr lang="es-MX" sz="1400" b="0" strike="noStrike" spc="-1">
                <a:latin typeface="Times New Roman"/>
              </a:defRPr>
            </a:lvl1pPr>
          </a:lstStyle>
          <a:p>
            <a:endParaRPr lang="es-MX" sz="1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4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4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103;p1"/>
          <p:cNvPicPr/>
          <p:nvPr/>
        </p:nvPicPr>
        <p:blipFill>
          <a:blip r:embed="rId2"/>
          <a:stretch/>
        </p:blipFill>
        <p:spPr>
          <a:xfrm>
            <a:off x="559800" y="-1440"/>
            <a:ext cx="5535360" cy="5671080"/>
          </a:xfrm>
          <a:prstGeom prst="rect">
            <a:avLst/>
          </a:prstGeom>
          <a:ln w="0">
            <a:noFill/>
          </a:ln>
        </p:spPr>
      </p:pic>
      <p:pic>
        <p:nvPicPr>
          <p:cNvPr id="42" name="Google Shape;104;p1"/>
          <p:cNvPicPr/>
          <p:nvPr/>
        </p:nvPicPr>
        <p:blipFill>
          <a:blip r:embed="rId3"/>
          <a:stretch/>
        </p:blipFill>
        <p:spPr>
          <a:xfrm>
            <a:off x="-98280" y="910"/>
            <a:ext cx="2709720" cy="5669640"/>
          </a:xfrm>
          <a:prstGeom prst="rect">
            <a:avLst/>
          </a:prstGeom>
          <a:ln w="0">
            <a:noFill/>
          </a:ln>
        </p:spPr>
      </p:pic>
      <p:sp>
        <p:nvSpPr>
          <p:cNvPr id="43" name="Google Shape;105;p1"/>
          <p:cNvSpPr/>
          <p:nvPr/>
        </p:nvSpPr>
        <p:spPr>
          <a:xfrm>
            <a:off x="2517120" y="139680"/>
            <a:ext cx="7626960" cy="19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b="1" dirty="0"/>
              <a:t>Modelado de un Esquema de Aprendizaje Incremental con Memoria Distribuida en Redes Neuronales Artificiales</a:t>
            </a:r>
            <a:br>
              <a:rPr lang="es-ES" dirty="0"/>
            </a:br>
            <a:endParaRPr lang="es-MX" sz="2400" b="0" strike="noStrike" spc="-1" dirty="0">
              <a:latin typeface="Arial"/>
            </a:endParaRPr>
          </a:p>
        </p:txBody>
      </p:sp>
      <p:sp>
        <p:nvSpPr>
          <p:cNvPr id="44" name="Google Shape;106;p1"/>
          <p:cNvSpPr/>
          <p:nvPr/>
        </p:nvSpPr>
        <p:spPr>
          <a:xfrm>
            <a:off x="2611440" y="1356120"/>
            <a:ext cx="7392960" cy="271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3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P r e s e n t a</a:t>
            </a:r>
            <a:endParaRPr lang="es-MX" sz="23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2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200" spc="-1" dirty="0">
                <a:solidFill>
                  <a:srgbClr val="000000"/>
                </a:solidFill>
                <a:latin typeface="Calibri"/>
                <a:ea typeface="Calibri"/>
              </a:rPr>
              <a:t>Ing</a:t>
            </a:r>
            <a:r>
              <a:rPr lang="es-ES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. González Hernández Luis Ángel</a:t>
            </a:r>
            <a:endParaRPr lang="es-MX" sz="2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Director: Dr. en C.C. Víctor Manuel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Landassuri</a:t>
            </a:r>
            <a:r>
              <a:rPr lang="es-ES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Moreno </a:t>
            </a: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200" spc="-1" dirty="0">
                <a:solidFill>
                  <a:srgbClr val="000000"/>
                </a:solidFill>
                <a:latin typeface="Calibri"/>
              </a:rPr>
              <a:t>Co-Director: Dr. en C.C. Leandro L. </a:t>
            </a:r>
            <a:r>
              <a:rPr lang="es-ES" sz="2200" spc="-1" dirty="0" err="1">
                <a:solidFill>
                  <a:srgbClr val="000000"/>
                </a:solidFill>
                <a:latin typeface="Calibri"/>
              </a:rPr>
              <a:t>Minku</a:t>
            </a:r>
            <a:endParaRPr lang="es-ES" sz="2200" spc="-1" dirty="0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200" b="0" strike="noStrike" spc="-1" dirty="0">
                <a:solidFill>
                  <a:srgbClr val="000000"/>
                </a:solidFill>
                <a:latin typeface="Calibri"/>
              </a:rPr>
              <a:t>Tutora: Dr. </a:t>
            </a:r>
            <a:r>
              <a:rPr lang="es-ES" sz="2200" spc="-1" dirty="0">
                <a:solidFill>
                  <a:srgbClr val="000000"/>
                </a:solidFill>
                <a:latin typeface="Calibri"/>
              </a:rPr>
              <a:t>en C.C Maricela Quintana </a:t>
            </a:r>
            <a:r>
              <a:rPr lang="es-ES" sz="2200" spc="-1" dirty="0" err="1">
                <a:solidFill>
                  <a:srgbClr val="000000"/>
                </a:solidFill>
                <a:latin typeface="Calibri"/>
              </a:rPr>
              <a:t>Lopez</a:t>
            </a:r>
            <a:endParaRPr lang="es-MX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b="0" strike="noStrike" spc="-1" dirty="0">
              <a:latin typeface="Arial"/>
            </a:endParaRPr>
          </a:p>
        </p:txBody>
      </p:sp>
      <p:sp>
        <p:nvSpPr>
          <p:cNvPr id="45" name="Google Shape;107;p1"/>
          <p:cNvSpPr/>
          <p:nvPr/>
        </p:nvSpPr>
        <p:spPr>
          <a:xfrm>
            <a:off x="2611440" y="5056200"/>
            <a:ext cx="7468200" cy="60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8000"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endParaRPr lang="es-MX" sz="1800" b="0" strike="noStrike" spc="-1" dirty="0">
              <a:latin typeface="Arial"/>
            </a:endParaRPr>
          </a:p>
          <a:p>
            <a:pPr algn="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Atizapán de Zaragoza, Edo. de Méx. </a:t>
            </a:r>
            <a:r>
              <a:rPr lang="es-ES" spc="-1" dirty="0">
                <a:solidFill>
                  <a:srgbClr val="000000"/>
                </a:solidFill>
                <a:latin typeface="Calibri"/>
                <a:ea typeface="Calibri"/>
              </a:rPr>
              <a:t>2 de Diciembre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de 2025</a:t>
            </a:r>
            <a:endParaRPr lang="es-MX" sz="18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endParaRPr lang="es-MX" sz="1800" b="0" strike="noStrike" spc="-1" dirty="0">
              <a:latin typeface="Arial"/>
            </a:endParaRPr>
          </a:p>
        </p:txBody>
      </p:sp>
      <p:sp>
        <p:nvSpPr>
          <p:cNvPr id="46" name="Google Shape;108;p1"/>
          <p:cNvSpPr/>
          <p:nvPr/>
        </p:nvSpPr>
        <p:spPr>
          <a:xfrm>
            <a:off x="2612160" y="4227840"/>
            <a:ext cx="746820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0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Coloquio de Maestría </a:t>
            </a:r>
            <a:endParaRPr lang="es-MX" sz="2000" b="0" strike="noStrike" spc="-1" dirty="0">
              <a:latin typeface="Arial"/>
            </a:endParaRPr>
          </a:p>
        </p:txBody>
      </p:sp>
      <p:pic>
        <p:nvPicPr>
          <p:cNvPr id="47" name="Google Shape;109;p1"/>
          <p:cNvPicPr/>
          <p:nvPr/>
        </p:nvPicPr>
        <p:blipFill>
          <a:blip r:embed="rId4"/>
          <a:stretch/>
        </p:blipFill>
        <p:spPr>
          <a:xfrm>
            <a:off x="538920" y="328680"/>
            <a:ext cx="1434960" cy="946800"/>
          </a:xfrm>
          <a:prstGeom prst="rect">
            <a:avLst/>
          </a:prstGeom>
          <a:ln w="0"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DA5B09-9F9F-354F-48F9-C6E08C589C83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99B1A2D-D4B6-4047-AD69-D754256AF902}" type="slidenum">
              <a:rPr lang="en-MX" smtClean="0"/>
              <a:t>1</a:t>
            </a:fld>
            <a:endParaRPr lang="en-MX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14;p2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49" name="Google Shape;115;p2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397080" y="1368720"/>
            <a:ext cx="9535320" cy="355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2" spcCol="0" anchor="ctr">
            <a:noAutofit/>
          </a:bodyPr>
          <a:lstStyle/>
          <a:p>
            <a:pPr algn="just">
              <a:lnSpc>
                <a:spcPct val="90000"/>
              </a:lnSpc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Planteamiento del problema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Objetivo General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Hipótesis y Justificación</a:t>
            </a:r>
            <a:r>
              <a:rPr lang="es-ES" sz="2000" spc="-1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lang="es-MX" sz="2000" spc="-1" dirty="0">
              <a:solidFill>
                <a:srgbClr val="000000"/>
              </a:solidFill>
              <a:latin typeface="Arial"/>
              <a:ea typeface="Calibri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Redes Neuronales Artificiales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endParaRPr lang="es-ES" sz="2000" b="0" strike="noStrike" spc="-1" dirty="0">
              <a:solidFill>
                <a:srgbClr val="000000"/>
              </a:solidFill>
              <a:latin typeface="Calibri"/>
              <a:ea typeface="Calibri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spc="-1" dirty="0" err="1">
                <a:solidFill>
                  <a:srgbClr val="000000"/>
                </a:solidFill>
                <a:latin typeface="Calibri"/>
                <a:ea typeface="Calibri"/>
              </a:rPr>
              <a:t>Backpropagation</a:t>
            </a:r>
            <a:endParaRPr lang="es-ES" sz="2000" spc="-1" dirty="0">
              <a:solidFill>
                <a:srgbClr val="000000"/>
              </a:solidFill>
              <a:latin typeface="Calibri"/>
              <a:ea typeface="Calibri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endParaRPr lang="es-ES" sz="2000" spc="-1" dirty="0">
              <a:solidFill>
                <a:srgbClr val="000000"/>
              </a:solidFill>
              <a:latin typeface="Calibri"/>
              <a:ea typeface="Calibri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Aprendizaje Incremental</a:t>
            </a:r>
            <a:endParaRPr lang="es-MX" sz="2000" spc="-1" dirty="0">
              <a:solidFill>
                <a:srgbClr val="000000"/>
              </a:solidFill>
              <a:latin typeface="Arial"/>
              <a:ea typeface="Calibri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Metodología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Cronograma de Actividades</a:t>
            </a:r>
            <a:endParaRPr lang="es-MX" sz="2000" b="0" strike="noStrike" spc="-1" dirty="0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Contenido</a:t>
            </a:r>
            <a:endParaRPr lang="es-MX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4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2/16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1203767" y="1799640"/>
            <a:ext cx="7920073" cy="264503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343080" indent="-343080" algn="just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El aprendizaje incremental </a:t>
            </a:r>
            <a:endParaRPr lang="es-MX" sz="2400" b="0" strike="noStrike" spc="-1" dirty="0">
              <a:latin typeface="Arial"/>
            </a:endParaRPr>
          </a:p>
          <a:p>
            <a:pPr marL="343080" indent="-343080" algn="just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Memoria a corto plazo </a:t>
            </a:r>
            <a:endParaRPr lang="es-MX" sz="2400" b="0" strike="noStrike" spc="-1" dirty="0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	- Tasa de aprendizaje alta</a:t>
            </a:r>
            <a:endParaRPr lang="es-MX" sz="2400" b="0" strike="noStrike" spc="-1" dirty="0">
              <a:latin typeface="Arial"/>
            </a:endParaRPr>
          </a:p>
          <a:p>
            <a:pPr marL="343080" indent="-343080" algn="just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Memoria a largo plazo</a:t>
            </a:r>
            <a:endParaRPr lang="es-MX" sz="2400" b="0" strike="noStrike" spc="-1" dirty="0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	- Tasa de aprendizaje pequeña</a:t>
            </a:r>
            <a:endParaRPr lang="es-MX" sz="2400" b="0" strike="noStrike" spc="-1" dirty="0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endParaRPr lang="es-MX" sz="2400" b="0" strike="noStrike" spc="-1" dirty="0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Trabajo previo (</a:t>
            </a:r>
            <a:r>
              <a:rPr lang="es-ES" sz="2400" b="0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Bullinaria</a:t>
            </a: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2009) se implementó el uso de duplicar los pesos, pero aún existe perdida de datos</a:t>
            </a:r>
            <a:endParaRPr lang="es-MX" sz="2400" b="0" strike="noStrike" spc="-1" dirty="0">
              <a:latin typeface="Arial"/>
            </a:endParaRPr>
          </a:p>
        </p:txBody>
      </p:sp>
      <p:pic>
        <p:nvPicPr>
          <p:cNvPr id="59" name="Google Shape;133;p4"/>
          <p:cNvPicPr/>
          <p:nvPr/>
        </p:nvPicPr>
        <p:blipFill>
          <a:blip r:embed="rId3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60" name="Google Shape;134;p4"/>
          <p:cNvPicPr/>
          <p:nvPr/>
        </p:nvPicPr>
        <p:blipFill>
          <a:blip r:embed="rId4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61" name="PlaceHolder 2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Planteamiento del Problema</a:t>
            </a:r>
            <a:endParaRPr lang="es-MX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6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6D0060A3-8A5B-4F84-9F76-C245384F212D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141;p5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72" name="Google Shape;142;p5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73" name="Google Shape;143;p5"/>
          <p:cNvSpPr/>
          <p:nvPr/>
        </p:nvSpPr>
        <p:spPr>
          <a:xfrm>
            <a:off x="1581120" y="455760"/>
            <a:ext cx="8248320" cy="41549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Objetivo General </a:t>
            </a:r>
            <a:endParaRPr lang="es-MX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MX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Diseñar una red neuronal artificial para aprendizaje incremental basada en el principio de la memoria a corto y largo plazo usando mas de dos matrices de pesos. </a:t>
            </a:r>
            <a:endParaRPr lang="es-MX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MX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Objetivo Particulares </a:t>
            </a:r>
            <a:endParaRPr lang="es-MX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MX" sz="1500" b="0" strike="noStrike" spc="-1" dirty="0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Implementar el algoritmo mostrado en (</a:t>
            </a:r>
            <a:r>
              <a:rPr lang="es-ES" sz="2400" b="0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Bullinaria</a:t>
            </a: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, 2009)</a:t>
            </a:r>
            <a:endParaRPr lang="es-MX" sz="2400" b="0" strike="noStrike" spc="-1" dirty="0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Separar el conjunto de entrenamiento y de prueba</a:t>
            </a:r>
            <a:endParaRPr lang="es-MX" sz="2400" b="0" strike="noStrike" spc="-1" dirty="0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Tomar como base el algoritmo implementado y extenderlo</a:t>
            </a:r>
            <a:endParaRPr lang="es-MX" sz="2400" b="0" strike="noStrike" spc="-1" dirty="0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Comparar ambas implementaciones</a:t>
            </a:r>
            <a:endParaRPr lang="es-MX" sz="2400" b="0" strike="noStrike" spc="-1" dirty="0">
              <a:latin typeface="Arial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8424212C-5A70-43C1-B3B7-0124794E4E62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149;p6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76" name="Google Shape;150;p6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77" name="Google Shape;151;p6"/>
          <p:cNvSpPr/>
          <p:nvPr/>
        </p:nvSpPr>
        <p:spPr>
          <a:xfrm>
            <a:off x="1986120" y="402840"/>
            <a:ext cx="6107760" cy="67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Hipótesis y Justificación</a:t>
            </a:r>
            <a:endParaRPr lang="es-MX" sz="2600" b="0" strike="noStrike" spc="-1" dirty="0">
              <a:latin typeface="Arial"/>
            </a:endParaRPr>
          </a:p>
        </p:txBody>
      </p:sp>
      <p:sp>
        <p:nvSpPr>
          <p:cNvPr id="78" name="Google Shape;152;p6"/>
          <p:cNvSpPr/>
          <p:nvPr/>
        </p:nvSpPr>
        <p:spPr>
          <a:xfrm>
            <a:off x="1040186" y="1186160"/>
            <a:ext cx="3045431" cy="36933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r>
              <a:rPr lang="en-US" dirty="0"/>
              <a:t>La </a:t>
            </a:r>
            <a:r>
              <a:rPr lang="en-US" dirty="0" err="1"/>
              <a:t>incorporación</a:t>
            </a:r>
            <a:r>
              <a:rPr lang="en-US" dirty="0"/>
              <a:t> de </a:t>
            </a:r>
            <a:r>
              <a:rPr lang="en-US" dirty="0" err="1"/>
              <a:t>memorias</a:t>
            </a:r>
            <a:r>
              <a:rPr lang="en-US" dirty="0"/>
              <a:t> </a:t>
            </a:r>
            <a:r>
              <a:rPr lang="en-US" dirty="0" err="1"/>
              <a:t>duplicadas</a:t>
            </a:r>
            <a:r>
              <a:rPr lang="en-US" dirty="0"/>
              <a:t> </a:t>
            </a:r>
            <a:r>
              <a:rPr lang="en-US" dirty="0" err="1"/>
              <a:t>adicionales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arquitectura</a:t>
            </a:r>
            <a:r>
              <a:rPr lang="en-US" dirty="0"/>
              <a:t> neuronal </a:t>
            </a:r>
            <a:r>
              <a:rPr lang="en-US" dirty="0" err="1"/>
              <a:t>basada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de [2] </a:t>
            </a:r>
            <a:r>
              <a:rPr lang="en-US" dirty="0" err="1"/>
              <a:t>aumentará</a:t>
            </a:r>
            <a:r>
              <a:rPr lang="en-US" dirty="0"/>
              <a:t> la </a:t>
            </a:r>
            <a:r>
              <a:rPr lang="en-US" dirty="0" err="1"/>
              <a:t>retención</a:t>
            </a:r>
            <a:r>
              <a:rPr lang="en-US" dirty="0"/>
              <a:t> del </a:t>
            </a:r>
            <a:r>
              <a:rPr lang="en-US" dirty="0" err="1"/>
              <a:t>conocimiento</a:t>
            </a:r>
            <a:r>
              <a:rPr lang="en-US" dirty="0"/>
              <a:t> </a:t>
            </a:r>
            <a:r>
              <a:rPr lang="en-US" dirty="0" err="1"/>
              <a:t>previo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10–15% </a:t>
            </a:r>
            <a:r>
              <a:rPr lang="en-US" dirty="0" err="1"/>
              <a:t>respecto</a:t>
            </a:r>
            <a:r>
              <a:rPr lang="en-US" dirty="0"/>
              <a:t> al </a:t>
            </a:r>
            <a:r>
              <a:rPr lang="en-US" dirty="0" err="1"/>
              <a:t>modelo</a:t>
            </a:r>
            <a:r>
              <a:rPr lang="en-US" dirty="0"/>
              <a:t> original, </a:t>
            </a:r>
            <a:r>
              <a:rPr lang="en-US" dirty="0" err="1"/>
              <a:t>manteniendo</a:t>
            </a:r>
            <a:r>
              <a:rPr lang="en-US" dirty="0"/>
              <a:t> un </a:t>
            </a:r>
            <a:r>
              <a:rPr lang="en-US" dirty="0" err="1"/>
              <a:t>costo</a:t>
            </a:r>
            <a:r>
              <a:rPr lang="en-US" dirty="0"/>
              <a:t> </a:t>
            </a:r>
            <a:r>
              <a:rPr lang="en-US" dirty="0" err="1"/>
              <a:t>computacional</a:t>
            </a:r>
            <a:r>
              <a:rPr lang="en-US" dirty="0"/>
              <a:t> similar y sin usar </a:t>
            </a:r>
            <a:r>
              <a:rPr lang="en-US" dirty="0" err="1"/>
              <a:t>mecanismos</a:t>
            </a:r>
            <a:r>
              <a:rPr lang="en-US" dirty="0"/>
              <a:t> </a:t>
            </a:r>
            <a:r>
              <a:rPr lang="en-US" dirty="0" err="1"/>
              <a:t>explícitos</a:t>
            </a:r>
            <a:r>
              <a:rPr lang="en-US" dirty="0"/>
              <a:t> de </a:t>
            </a:r>
            <a:r>
              <a:rPr lang="en-US" dirty="0" err="1"/>
              <a:t>repetición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  <p:sp>
        <p:nvSpPr>
          <p:cNvPr id="79" name="PlaceHolder 1"/>
          <p:cNvSpPr>
            <a:spLocks noGrp="1"/>
          </p:cNvSpPr>
          <p:nvPr>
            <p:ph type="sldNum" idx="9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45E84D77-4C16-4FC3-8370-FC3F9AF9C282}" type="slidenum">
              <a: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5</a:t>
            </a:fld>
            <a:r>
              <a: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/18</a:t>
            </a:r>
            <a:endParaRPr lang="es-MX" sz="1400" b="0" strike="noStrike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2159EB-9DB8-91AE-F98F-B104CE082F0B}"/>
              </a:ext>
            </a:extLst>
          </p:cNvPr>
          <p:cNvSpPr txBox="1"/>
          <p:nvPr/>
        </p:nvSpPr>
        <p:spPr>
          <a:xfrm>
            <a:off x="5720433" y="1484280"/>
            <a:ext cx="33200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000000"/>
              </a:buClr>
            </a:pPr>
            <a:r>
              <a:rPr lang="en-US" dirty="0"/>
              <a:t>La </a:t>
            </a:r>
            <a:r>
              <a:rPr lang="en-US" dirty="0" err="1"/>
              <a:t>combinación</a:t>
            </a:r>
            <a:r>
              <a:rPr lang="en-US" dirty="0"/>
              <a:t> de </a:t>
            </a:r>
            <a:r>
              <a:rPr lang="en-US" dirty="0" err="1"/>
              <a:t>Aprendizaje</a:t>
            </a:r>
            <a:r>
              <a:rPr lang="en-US" dirty="0"/>
              <a:t> Incremental y </a:t>
            </a:r>
            <a:r>
              <a:rPr lang="en-US" dirty="0" err="1"/>
              <a:t>TinyML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crear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aprenden</a:t>
            </a:r>
            <a:r>
              <a:rPr lang="en-US" dirty="0"/>
              <a:t>, se </a:t>
            </a:r>
            <a:r>
              <a:rPr lang="en-US" dirty="0" err="1"/>
              <a:t>adaptan</a:t>
            </a:r>
            <a:r>
              <a:rPr lang="en-US" dirty="0"/>
              <a:t> y </a:t>
            </a:r>
            <a:r>
              <a:rPr lang="en-US" dirty="0" err="1"/>
              <a:t>mantienen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memoria </a:t>
            </a:r>
            <a:r>
              <a:rPr lang="en-US" dirty="0" err="1"/>
              <a:t>directamente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dispositivos</a:t>
            </a:r>
            <a:r>
              <a:rPr lang="en-US" dirty="0"/>
              <a:t> con </a:t>
            </a:r>
            <a:r>
              <a:rPr lang="en-US" dirty="0" err="1"/>
              <a:t>recursos</a:t>
            </a:r>
            <a:r>
              <a:rPr lang="en-US" dirty="0"/>
              <a:t> </a:t>
            </a:r>
            <a:r>
              <a:rPr lang="en-US" dirty="0" err="1"/>
              <a:t>limitados</a:t>
            </a:r>
            <a:r>
              <a:rPr lang="en-US" dirty="0"/>
              <a:t>. Esto </a:t>
            </a:r>
            <a:r>
              <a:rPr lang="en-US" dirty="0" err="1"/>
              <a:t>mejora</a:t>
            </a:r>
            <a:r>
              <a:rPr lang="en-US" dirty="0"/>
              <a:t> </a:t>
            </a:r>
            <a:r>
              <a:rPr lang="en-US" dirty="0" err="1"/>
              <a:t>privacidad</a:t>
            </a:r>
            <a:r>
              <a:rPr lang="en-US" dirty="0"/>
              <a:t>, </a:t>
            </a:r>
            <a:r>
              <a:rPr lang="en-US" dirty="0" err="1"/>
              <a:t>eficiencia</a:t>
            </a:r>
            <a:r>
              <a:rPr lang="en-US" dirty="0"/>
              <a:t> y </a:t>
            </a:r>
            <a:r>
              <a:rPr lang="en-US" dirty="0" err="1"/>
              <a:t>abre</a:t>
            </a:r>
            <a:r>
              <a:rPr lang="en-US" dirty="0"/>
              <a:t> </a:t>
            </a:r>
            <a:r>
              <a:rPr lang="en-US" dirty="0" err="1"/>
              <a:t>nuevas</a:t>
            </a:r>
            <a:r>
              <a:rPr lang="en-US" dirty="0"/>
              <a:t> </a:t>
            </a:r>
            <a:r>
              <a:rPr lang="en-US" dirty="0" err="1"/>
              <a:t>posibilidades</a:t>
            </a:r>
            <a:r>
              <a:rPr lang="en-US" dirty="0"/>
              <a:t> para IA </a:t>
            </a:r>
            <a:r>
              <a:rPr lang="en-US" dirty="0" err="1"/>
              <a:t>embebida</a:t>
            </a:r>
            <a:r>
              <a:rPr lang="es-ES" spc="-1" dirty="0">
                <a:solidFill>
                  <a:srgbClr val="000000"/>
                </a:solidFill>
                <a:ea typeface="Arial"/>
              </a:rPr>
              <a:t>.</a:t>
            </a:r>
            <a:endParaRPr lang="es-MX" spc="-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2246760" y="852480"/>
            <a:ext cx="6208560" cy="143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Contienen dos o mas capas, entrada y salida y una o mas ocultas, con funciones de activación</a:t>
            </a:r>
            <a:endParaRPr lang="es-MX" sz="2400" b="0" strike="noStrike" spc="-1">
              <a:latin typeface="Arial"/>
            </a:endParaRPr>
          </a:p>
        </p:txBody>
      </p:sp>
      <p:pic>
        <p:nvPicPr>
          <p:cNvPr id="99" name="Google Shape;187;p10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00" name="Google Shape;188;p10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01" name="PlaceHolder 2"/>
          <p:cNvSpPr>
            <a:spLocks noGrp="1"/>
          </p:cNvSpPr>
          <p:nvPr>
            <p:ph type="title"/>
          </p:nvPr>
        </p:nvSpPr>
        <p:spPr>
          <a:xfrm>
            <a:off x="82656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Redes Neuronales de Perceptrón Multicapa</a:t>
            </a:r>
            <a:endParaRPr lang="es-MX" sz="2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Google Shape;190;p10"/>
          <p:cNvPicPr/>
          <p:nvPr/>
        </p:nvPicPr>
        <p:blipFill>
          <a:blip r:embed="rId4"/>
          <a:stretch/>
        </p:blipFill>
        <p:spPr>
          <a:xfrm>
            <a:off x="2581920" y="2054880"/>
            <a:ext cx="5561280" cy="2928960"/>
          </a:xfrm>
          <a:prstGeom prst="rect">
            <a:avLst/>
          </a:prstGeom>
          <a:ln w="0">
            <a:noFill/>
          </a:ln>
        </p:spPr>
      </p:pic>
      <p:sp>
        <p:nvSpPr>
          <p:cNvPr id="103" name="PlaceHolder 3"/>
          <p:cNvSpPr>
            <a:spLocks noGrp="1"/>
          </p:cNvSpPr>
          <p:nvPr>
            <p:ph type="sldNum" idx="13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10/16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922CB-B4A6-20F2-5523-2C4505990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187;p10">
            <a:extLst>
              <a:ext uri="{FF2B5EF4-FFF2-40B4-BE49-F238E27FC236}">
                <a16:creationId xmlns:a16="http://schemas.microsoft.com/office/drawing/2014/main" id="{6CC09C89-BA85-9E31-6F2B-DD767C98ABE3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00" name="Google Shape;188;p10">
            <a:extLst>
              <a:ext uri="{FF2B5EF4-FFF2-40B4-BE49-F238E27FC236}">
                <a16:creationId xmlns:a16="http://schemas.microsoft.com/office/drawing/2014/main" id="{E7062BD9-501A-A1E8-F077-0844A1DFC5A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01" name="PlaceHolder 2">
            <a:extLst>
              <a:ext uri="{FF2B5EF4-FFF2-40B4-BE49-F238E27FC236}">
                <a16:creationId xmlns:a16="http://schemas.microsoft.com/office/drawing/2014/main" id="{0E1A5462-A290-E806-0AEB-D9BB33D5D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56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Backpropagation</a:t>
            </a:r>
            <a:endParaRPr lang="es-MX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>
            <a:extLst>
              <a:ext uri="{FF2B5EF4-FFF2-40B4-BE49-F238E27FC236}">
                <a16:creationId xmlns:a16="http://schemas.microsoft.com/office/drawing/2014/main" id="{8CC3B4B7-95B1-BB52-8B4C-B3689FA35599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10/16</a:t>
            </a:r>
            <a:endParaRPr lang="es-MX" sz="1400" b="0" strike="noStrike" spc="-1" dirty="0">
              <a:latin typeface="Times New Roman"/>
            </a:endParaRP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DC33742D-CC28-800B-AD79-CE224B45A4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25"/>
          <a:stretch>
            <a:fillRect/>
          </a:stretch>
        </p:blipFill>
        <p:spPr>
          <a:xfrm>
            <a:off x="2018806" y="1102081"/>
            <a:ext cx="5830784" cy="346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522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229;p14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18" name="Google Shape;230;p14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20" name="PlaceHolder 3"/>
          <p:cNvSpPr>
            <a:spLocks noGrp="1"/>
          </p:cNvSpPr>
          <p:nvPr>
            <p:ph type="sldNum" idx="16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557813AA-4B81-488D-BB56-61607AD110CD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8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46D2B78D-ECE7-580D-49A7-D2E0809BC6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91608" y="845893"/>
            <a:ext cx="2475890" cy="2475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X"/>
          </a:p>
        </p:txBody>
      </p:sp>
      <p:pic>
        <p:nvPicPr>
          <p:cNvPr id="5" name="Picture 4" descr="A diagram of a model&#10;&#10;AI-generated content may be incorrect.">
            <a:extLst>
              <a:ext uri="{FF2B5EF4-FFF2-40B4-BE49-F238E27FC236}">
                <a16:creationId xmlns:a16="http://schemas.microsoft.com/office/drawing/2014/main" id="{183EA341-A0F6-D547-AA1E-9D22F138D3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082" y="446589"/>
            <a:ext cx="5881695" cy="39211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237;p15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22" name="Google Shape;238;p15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23" name="Google Shape;239;p15"/>
          <p:cNvSpPr/>
          <p:nvPr/>
        </p:nvSpPr>
        <p:spPr>
          <a:xfrm>
            <a:off x="922320" y="1915200"/>
            <a:ext cx="856548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marL="28584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Recrear el código de Bullinaria en Python</a:t>
            </a:r>
            <a:endParaRPr lang="es-MX" sz="24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2400" b="0" strike="noStrike" spc="-1">
              <a:latin typeface="Arial"/>
            </a:endParaRPr>
          </a:p>
          <a:p>
            <a:pPr marL="28584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Extender el código con mas de dos matrices de pesos duplicados</a:t>
            </a:r>
            <a:endParaRPr lang="es-MX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MX" sz="2400" b="0" strike="noStrike" spc="-1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Realizar una comparación de ambos resultados</a:t>
            </a:r>
            <a:endParaRPr lang="es-MX" sz="2400" b="0" strike="noStrike" spc="-1">
              <a:latin typeface="Arial"/>
            </a:endParaRPr>
          </a:p>
        </p:txBody>
      </p:sp>
      <p:sp>
        <p:nvSpPr>
          <p:cNvPr id="124" name="Google Shape;240;p15"/>
          <p:cNvSpPr/>
          <p:nvPr/>
        </p:nvSpPr>
        <p:spPr>
          <a:xfrm>
            <a:off x="4031280" y="398160"/>
            <a:ext cx="2971440" cy="60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Metodología </a:t>
            </a:r>
            <a:endParaRPr lang="es-MX" sz="2600" b="0" strike="noStrike" spc="-1"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sldNum" idx="17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EAAF4C53-206A-432B-85F3-585E33D2ACC4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9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246;p16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27" name="Google Shape;247;p16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28" name="Google Shape;248;p16"/>
          <p:cNvSpPr/>
          <p:nvPr/>
        </p:nvSpPr>
        <p:spPr>
          <a:xfrm>
            <a:off x="1136855" y="129875"/>
            <a:ext cx="866690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 lnSpcReduction="20000"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Cronograma de </a:t>
            </a:r>
            <a:endParaRPr lang="es-MX" sz="26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Actividades </a:t>
            </a:r>
            <a:endParaRPr lang="es-MX" sz="2600" b="0" strike="noStrike" spc="-1" dirty="0"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sldNum" idx="18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6D6A1D08-52D5-4D10-BA1E-CF311FF8B82C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4CEE0A-A551-55ED-89D4-6F0BA679E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939" y="875381"/>
            <a:ext cx="7336745" cy="39197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255;p17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32" name="Google Shape;256;p17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33" name="Google Shape;257;p17"/>
          <p:cNvSpPr/>
          <p:nvPr/>
        </p:nvSpPr>
        <p:spPr>
          <a:xfrm>
            <a:off x="2081160" y="381960"/>
            <a:ext cx="6107760" cy="67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Referencias </a:t>
            </a:r>
            <a:endParaRPr lang="es-MX" sz="2600" b="0" strike="noStrike" spc="-1">
              <a:latin typeface="Arial"/>
            </a:endParaRPr>
          </a:p>
        </p:txBody>
      </p:sp>
      <p:sp>
        <p:nvSpPr>
          <p:cNvPr id="134" name="Google Shape;258;p17"/>
          <p:cNvSpPr/>
          <p:nvPr/>
        </p:nvSpPr>
        <p:spPr>
          <a:xfrm>
            <a:off x="252919" y="1251613"/>
            <a:ext cx="9322361" cy="3323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John A </a:t>
            </a:r>
            <a:r>
              <a:rPr lang="es-ES" sz="14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Bullinaria</a:t>
            </a: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. </a:t>
            </a:r>
            <a:r>
              <a:rPr lang="es-ES" sz="14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Evolved</a:t>
            </a: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dual </a:t>
            </a:r>
            <a:r>
              <a:rPr lang="es-ES" sz="14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weight</a:t>
            </a: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neural </a:t>
            </a:r>
            <a:r>
              <a:rPr lang="es-ES" sz="14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architectures</a:t>
            </a: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facilitate</a:t>
            </a: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incremental </a:t>
            </a:r>
            <a:r>
              <a:rPr lang="es-ES" sz="14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learning</a:t>
            </a: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. In IJCCI, </a:t>
            </a:r>
            <a:r>
              <a:rPr lang="es-ES" sz="14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pages</a:t>
            </a: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427–434, 2009.</a:t>
            </a:r>
            <a:endParaRPr lang="es-MX" sz="14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14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Yuyang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Liu,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Qiuhe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Hong,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Linlan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Huang, Alexandra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Gomez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-Villa,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Dipam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Goswami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Xialei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Liu, Joost van de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Weijer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, and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Yonghong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Tian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.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Continual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learning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vlms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: A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survey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and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taxonomy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beyond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forgetting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.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arXiv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preprint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arXiv:2508.04227, 2025.</a:t>
            </a: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14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Krisanu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Sarkar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. Adaptive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variance-penalized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continual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learning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fisher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regularization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.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arXiv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preprint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arXiv:2508.16632, 2025.</a:t>
            </a: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14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Xing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Wei,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Shaofan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Liu,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Yaoci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Xiang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Zhangling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Duan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, Chong Zhao, and Yang Lu. Incremental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learning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multi-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domain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adaptation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object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detection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.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Knowledge-Based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Systems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, 210:106420, 2020.</a:t>
            </a: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ES" sz="1400" spc="-1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spc="-1" dirty="0"/>
              <a:t>rancesco Cerasuolo, Alfredo Nascita, Giampaolo Bovenzi, Giuseppe Aceto, Domenico Ciuonzo, Antonio</a:t>
            </a: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spc="-1" dirty="0"/>
              <a:t>Pescapè, and Dario Rossi. Memento: A novel approach for class incremental learning of encrypted traffic.</a:t>
            </a: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spc="-1" dirty="0"/>
              <a:t>Computer Networks, 245:110374, 2024</a:t>
            </a:r>
            <a:endParaRPr lang="es-MX" sz="1400" b="0" strike="noStrike" spc="-1" dirty="0">
              <a:latin typeface="Arial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sldNum" idx="19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15/16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264;p18"/>
          <p:cNvPicPr/>
          <p:nvPr/>
        </p:nvPicPr>
        <p:blipFill>
          <a:blip r:embed="rId2"/>
          <a:stretch/>
        </p:blipFill>
        <p:spPr>
          <a:xfrm>
            <a:off x="559800" y="-1440"/>
            <a:ext cx="5535360" cy="5671080"/>
          </a:xfrm>
          <a:prstGeom prst="rect">
            <a:avLst/>
          </a:prstGeom>
          <a:ln w="0">
            <a:noFill/>
          </a:ln>
        </p:spPr>
      </p:pic>
      <p:pic>
        <p:nvPicPr>
          <p:cNvPr id="137" name="Google Shape;265;p18"/>
          <p:cNvPicPr/>
          <p:nvPr/>
        </p:nvPicPr>
        <p:blipFill>
          <a:blip r:embed="rId3"/>
          <a:stretch/>
        </p:blipFill>
        <p:spPr>
          <a:xfrm>
            <a:off x="-98640" y="0"/>
            <a:ext cx="2709720" cy="5669640"/>
          </a:xfrm>
          <a:prstGeom prst="rect">
            <a:avLst/>
          </a:prstGeom>
          <a:ln w="0">
            <a:noFill/>
          </a:ln>
        </p:spPr>
      </p:pic>
      <p:sp>
        <p:nvSpPr>
          <p:cNvPr id="138" name="Google Shape;266;p18"/>
          <p:cNvSpPr/>
          <p:nvPr/>
        </p:nvSpPr>
        <p:spPr>
          <a:xfrm>
            <a:off x="2517120" y="139680"/>
            <a:ext cx="7626960" cy="19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b="1" dirty="0"/>
              <a:t>Modelado de un Esquema de Aprendizaje Incremental con Memoria Distribuida en Redes Neuronales Artificiales</a:t>
            </a:r>
            <a:br>
              <a:rPr lang="es-ES" dirty="0"/>
            </a:br>
            <a:endParaRPr lang="es-MX" sz="2400" spc="-1" dirty="0"/>
          </a:p>
        </p:txBody>
      </p:sp>
      <p:sp>
        <p:nvSpPr>
          <p:cNvPr id="139" name="Google Shape;267;p18"/>
          <p:cNvSpPr/>
          <p:nvPr/>
        </p:nvSpPr>
        <p:spPr>
          <a:xfrm>
            <a:off x="2611440" y="1356120"/>
            <a:ext cx="7392960" cy="271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spc="-1" dirty="0"/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300" spc="-1" dirty="0">
                <a:solidFill>
                  <a:srgbClr val="000000"/>
                </a:solidFill>
                <a:latin typeface="Calibri"/>
                <a:ea typeface="Calibri"/>
              </a:rPr>
              <a:t>P r e s e n t a</a:t>
            </a:r>
            <a:endParaRPr lang="es-MX" sz="2300" spc="-1" dirty="0"/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2000" spc="-1" dirty="0"/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spc="-1" dirty="0"/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200" spc="-1" dirty="0">
                <a:solidFill>
                  <a:srgbClr val="000000"/>
                </a:solidFill>
                <a:latin typeface="Calibri"/>
                <a:ea typeface="Calibri"/>
              </a:rPr>
              <a:t>Ing. González Hernández Luis Ángel</a:t>
            </a:r>
            <a:endParaRPr lang="es-MX" sz="2200" spc="-1" dirty="0"/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spc="-1" dirty="0"/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200" spc="-1" dirty="0">
                <a:solidFill>
                  <a:srgbClr val="000000"/>
                </a:solidFill>
                <a:latin typeface="Calibri"/>
                <a:ea typeface="Calibri"/>
              </a:rPr>
              <a:t>Director: Dr. en C.C. Víctor Manuel </a:t>
            </a:r>
            <a:r>
              <a:rPr lang="es-ES" sz="2200" spc="-1" dirty="0" err="1">
                <a:solidFill>
                  <a:srgbClr val="000000"/>
                </a:solidFill>
                <a:latin typeface="Calibri"/>
                <a:ea typeface="Calibri"/>
              </a:rPr>
              <a:t>Landassuri</a:t>
            </a:r>
            <a:r>
              <a:rPr lang="es-ES" sz="2200" spc="-1" dirty="0">
                <a:solidFill>
                  <a:srgbClr val="000000"/>
                </a:solidFill>
                <a:latin typeface="Calibri"/>
                <a:ea typeface="Calibri"/>
              </a:rPr>
              <a:t> Moreno </a:t>
            </a: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200" spc="-1" dirty="0">
                <a:solidFill>
                  <a:srgbClr val="000000"/>
                </a:solidFill>
                <a:latin typeface="Calibri"/>
              </a:rPr>
              <a:t>Co-Director: Dr. en C.C. Leandro L. </a:t>
            </a:r>
            <a:r>
              <a:rPr lang="es-ES" sz="2200" spc="-1" dirty="0" err="1">
                <a:solidFill>
                  <a:srgbClr val="000000"/>
                </a:solidFill>
                <a:latin typeface="Calibri"/>
              </a:rPr>
              <a:t>Minku</a:t>
            </a:r>
            <a:endParaRPr lang="es-ES" sz="2200" spc="-1" dirty="0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200" spc="-1" dirty="0">
                <a:solidFill>
                  <a:srgbClr val="000000"/>
                </a:solidFill>
                <a:latin typeface="Calibri"/>
              </a:rPr>
              <a:t>Tutora: Dr. en C.C Maricela Quintana López</a:t>
            </a:r>
            <a:endParaRPr lang="es-MX" sz="2200" spc="-1" dirty="0"/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spc="-1" dirty="0"/>
          </a:p>
        </p:txBody>
      </p:sp>
      <p:sp>
        <p:nvSpPr>
          <p:cNvPr id="140" name="Google Shape;268;p18"/>
          <p:cNvSpPr/>
          <p:nvPr/>
        </p:nvSpPr>
        <p:spPr>
          <a:xfrm>
            <a:off x="2611440" y="5056200"/>
            <a:ext cx="7468200" cy="60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8000"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endParaRPr lang="es-MX" sz="1800" b="0" strike="noStrike" spc="-1" dirty="0">
              <a:latin typeface="Arial"/>
            </a:endParaRPr>
          </a:p>
          <a:p>
            <a:pPr algn="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pc="-1" dirty="0">
                <a:solidFill>
                  <a:srgbClr val="000000"/>
                </a:solidFill>
                <a:latin typeface="Calibri"/>
                <a:ea typeface="Calibri"/>
              </a:rPr>
              <a:t>Atizapán de Zaragoza, Edo. de Méx. 2 de Diciembre de 2025</a:t>
            </a:r>
            <a:endParaRPr lang="es-MX" spc="-1" dirty="0"/>
          </a:p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endParaRPr lang="es-MX" sz="1800" b="0" strike="noStrike" spc="-1" dirty="0">
              <a:latin typeface="Arial"/>
            </a:endParaRPr>
          </a:p>
        </p:txBody>
      </p:sp>
      <p:sp>
        <p:nvSpPr>
          <p:cNvPr id="141" name="Google Shape;269;p18"/>
          <p:cNvSpPr/>
          <p:nvPr/>
        </p:nvSpPr>
        <p:spPr>
          <a:xfrm>
            <a:off x="2612160" y="4227840"/>
            <a:ext cx="746820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000" b="1" spc="-1" dirty="0">
                <a:solidFill>
                  <a:srgbClr val="000000"/>
                </a:solidFill>
                <a:latin typeface="Calibri"/>
                <a:ea typeface="Calibri"/>
              </a:rPr>
              <a:t>Coloquio de Maestría </a:t>
            </a:r>
            <a:endParaRPr lang="es-MX" sz="2000" spc="-1" dirty="0"/>
          </a:p>
        </p:txBody>
      </p:sp>
      <p:pic>
        <p:nvPicPr>
          <p:cNvPr id="142" name="Google Shape;270;p18"/>
          <p:cNvPicPr/>
          <p:nvPr/>
        </p:nvPicPr>
        <p:blipFill>
          <a:blip r:embed="rId4"/>
          <a:stretch/>
        </p:blipFill>
        <p:spPr>
          <a:xfrm>
            <a:off x="538920" y="328680"/>
            <a:ext cx="1434960" cy="946800"/>
          </a:xfrm>
          <a:prstGeom prst="rect">
            <a:avLst/>
          </a:prstGeom>
          <a:ln w="0"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6B97FF-AE70-9A06-F3A5-5340E8EF32D2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99B1A2D-D4B6-4047-AD69-D754256AF902}" type="slidenum">
              <a:rPr lang="en-MX" smtClean="0"/>
              <a:t>12</a:t>
            </a:fld>
            <a:endParaRPr lang="en-MX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</TotalTime>
  <Words>613</Words>
  <Application>Microsoft Macintosh PowerPoint</Application>
  <PresentationFormat>Custom</PresentationFormat>
  <Paragraphs>100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Contenido</vt:lpstr>
      <vt:lpstr>Planteamiento del Problema</vt:lpstr>
      <vt:lpstr>PowerPoint Presentation</vt:lpstr>
      <vt:lpstr>PowerPoint Presentation</vt:lpstr>
      <vt:lpstr>Redes Neuronales de Perceptrón Multicapa</vt:lpstr>
      <vt:lpstr>Backpropagation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>Luis Angel Gonzalez Hernandez</cp:lastModifiedBy>
  <cp:revision>15</cp:revision>
  <dcterms:created xsi:type="dcterms:W3CDTF">2022-11-08T19:43:34Z</dcterms:created>
  <dcterms:modified xsi:type="dcterms:W3CDTF">2025-11-29T07:46:46Z</dcterms:modified>
  <dc:language>es-MX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Personalizado</vt:lpwstr>
  </property>
  <property fmtid="{D5CDD505-2E9C-101B-9397-08002B2CF9AE}" pid="4" name="Slides">
    <vt:i4>18</vt:i4>
  </property>
</Properties>
</file>