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4" r:id="rId13"/>
    <p:sldId id="275" r:id="rId14"/>
    <p:sldId id="277" r:id="rId15"/>
    <p:sldId id="276" r:id="rId16"/>
    <p:sldId id="278" r:id="rId17"/>
    <p:sldId id="272" r:id="rId18"/>
    <p:sldId id="273" r:id="rId19"/>
  </p:sldIdLst>
  <p:sldSz cx="10080625" cy="567055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pdxF+RNFFkOOnPOrk/ldlU8NR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4"/>
  </p:normalViewPr>
  <p:slideViewPr>
    <p:cSldViewPr snapToGrid="0">
      <p:cViewPr varScale="1">
        <p:scale>
          <a:sx n="131" d="100"/>
          <a:sy n="131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402138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8DC7613E-9DD2-2371-AEED-610ECE16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4140B7DF-A3E0-C331-6FD2-8CB8DA185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9A15FC7F-6E08-B92E-5096-D3643DDD0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364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B661726F-2780-F7ED-7E46-4741878A1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938D3663-35CC-CD4D-51EF-713736C0A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491CED45-D2E6-900D-C5FF-A52BA87CE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1021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708F433-19E9-B113-5935-249421E7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8DE3D085-7449-B5B3-B841-4BA198038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6393D51F-3C81-DA72-EF29-322A060274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0790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5DE27C2-4930-BF55-EC8C-51A0B06B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30092883-FC2A-8D5C-3831-D1BAE57A1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1690B8C6-966A-4065-FA15-20C429EBC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6463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CAA23DB-B9C6-F6A0-FDAB-96E722F8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0F328112-92BA-9A2D-2A85-E14A8C09E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DB7DB55C-4DFC-DC7E-F56B-C9285AA3D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7122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subTitle" idx="1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3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body" idx="2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4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1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1"/>
          <p:cNvSpPr txBox="1">
            <a:spLocks noGrp="1"/>
          </p:cNvSpPr>
          <p:nvPr>
            <p:ph type="body" idx="2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3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body" idx="4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body" idx="5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body" idx="6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800" y="-1440"/>
            <a:ext cx="5535720" cy="567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8640" y="0"/>
            <a:ext cx="2710080" cy="56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/>
          <p:nvPr/>
        </p:nvSpPr>
        <p:spPr>
          <a:xfrm>
            <a:off x="2517292" y="139849"/>
            <a:ext cx="7627256" cy="193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2400"/>
            </a:pPr>
            <a:r>
              <a:rPr lang="es-ES_tradnl" sz="2400" b="1" dirty="0">
                <a:latin typeface="Calibri"/>
                <a:ea typeface="Calibri"/>
                <a:cs typeface="Calibri"/>
                <a:sym typeface="Calibri"/>
              </a:rPr>
              <a:t>Desarrollo de un Modelo de Aprendizaje Incremental de</a:t>
            </a:r>
          </a:p>
          <a:p>
            <a:pPr lvl="0" algn="ctr">
              <a:buSzPts val="2400"/>
            </a:pPr>
            <a:r>
              <a:rPr lang="es-ES_tradnl" sz="2400" b="1" dirty="0">
                <a:latin typeface="Calibri"/>
                <a:ea typeface="Calibri"/>
                <a:cs typeface="Calibri"/>
                <a:sym typeface="Calibri"/>
              </a:rPr>
              <a:t>Redes Neuronales Artificiales Aplicado al Conjunto de</a:t>
            </a:r>
          </a:p>
          <a:p>
            <a:pPr lvl="0" algn="ctr">
              <a:buSzPts val="2400"/>
            </a:pPr>
            <a:r>
              <a:rPr lang="es-ES_tradnl" sz="2400" b="1" dirty="0">
                <a:latin typeface="Calibri"/>
                <a:ea typeface="Calibri"/>
                <a:cs typeface="Calibri"/>
                <a:sym typeface="Calibri"/>
              </a:rPr>
              <a:t>Datos </a:t>
            </a:r>
            <a:r>
              <a:rPr lang="es-ES_tradnl" sz="2400" b="1" dirty="0" err="1">
                <a:latin typeface="Calibri"/>
                <a:ea typeface="Calibri"/>
                <a:cs typeface="Calibri"/>
                <a:sym typeface="Calibri"/>
              </a:rPr>
              <a:t>Optdigit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2611440" y="1955454"/>
            <a:ext cx="7393172" cy="271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lang="es-ES_tradnl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r e s e n t a</a:t>
            </a:r>
            <a:endParaRPr lang="es-ES_tradnl"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s-ES_tradnl" sz="2200" dirty="0">
                <a:latin typeface="Calibri"/>
                <a:ea typeface="Calibri"/>
                <a:cs typeface="Calibri"/>
                <a:sym typeface="Calibri"/>
              </a:rPr>
              <a:t>Ing</a:t>
            </a: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González Hernández Luis Ángel</a:t>
            </a: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Asesor: Dr. en C.C. Víctor Manuel </a:t>
            </a:r>
            <a:r>
              <a:rPr lang="es-ES_tradnl" sz="2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Landassuri</a:t>
            </a: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Moreno </a:t>
            </a: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2611440" y="5056097"/>
            <a:ext cx="7468560" cy="602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Atizapán de Zaragoza, Edo. de Méx. </a:t>
            </a:r>
            <a:r>
              <a:rPr lang="es-ES_tradnl" sz="1800" dirty="0">
                <a:latin typeface="Calibri"/>
                <a:ea typeface="Calibri"/>
                <a:cs typeface="Calibri"/>
                <a:sym typeface="Calibri"/>
              </a:rPr>
              <a:t>08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Octubre de 2025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2612065" y="4227756"/>
            <a:ext cx="7468560" cy="50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lang="es-ES_tradnl" dirty="0"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740" y="328500"/>
            <a:ext cx="1435320" cy="94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>
            <a:spLocks noGrp="1"/>
          </p:cNvSpPr>
          <p:nvPr>
            <p:ph type="subTitle" idx="1"/>
          </p:nvPr>
        </p:nvSpPr>
        <p:spPr>
          <a:xfrm>
            <a:off x="503975" y="1368828"/>
            <a:ext cx="9428939" cy="3550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Introducción.</a:t>
            </a: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dirty="0">
                <a:latin typeface="Calibri"/>
                <a:cs typeface="Calibri"/>
                <a:sym typeface="Calibri"/>
              </a:rPr>
              <a:t>Objetivo general y específicos.</a:t>
            </a: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endParaRPr lang="es-ES_tradnl" sz="2000" dirty="0">
              <a:latin typeface="Calibri"/>
              <a:cs typeface="Calibri"/>
              <a:sym typeface="Calibri"/>
            </a:endParaRP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dirty="0">
                <a:latin typeface="Calibri"/>
                <a:cs typeface="Calibri"/>
                <a:sym typeface="Calibri"/>
              </a:rPr>
              <a:t>Marco Teórico.</a:t>
            </a: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endParaRPr lang="es-ES_tradnl" sz="2000" dirty="0">
              <a:latin typeface="Calibri"/>
              <a:cs typeface="Calibri"/>
              <a:sym typeface="Calibri"/>
            </a:endParaRP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dirty="0">
                <a:latin typeface="Calibri"/>
                <a:cs typeface="Calibri"/>
                <a:sym typeface="Calibri"/>
              </a:rPr>
              <a:t>Metodología/Implementación.</a:t>
            </a: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endParaRPr lang="es-ES_tradnl" sz="2000" dirty="0">
              <a:latin typeface="Calibri"/>
              <a:cs typeface="Calibri"/>
              <a:sym typeface="Calibri"/>
            </a:endParaRP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dirty="0">
                <a:latin typeface="Calibri"/>
                <a:cs typeface="Calibri"/>
                <a:sym typeface="Calibri"/>
              </a:rPr>
              <a:t>Resultados experimentales.</a:t>
            </a:r>
            <a:endParaRPr lang="es-ES_tradnl"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 lang="es-ES_tradnl" dirty="0"/>
          </a:p>
        </p:txBody>
      </p:sp>
      <p:sp>
        <p:nvSpPr>
          <p:cNvPr id="118" name="Google Shape;118;p2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s-ES_tradnl" dirty="0"/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lang="es-ES_tradnl" dirty="0"/>
          </a:p>
        </p:txBody>
      </p:sp>
      <p:sp>
        <p:nvSpPr>
          <p:cNvPr id="126" name="Google Shape;126;p3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3</a:t>
            </a:fld>
            <a:r>
              <a:rPr lang="es-ES_tradnl" dirty="0"/>
              <a:t>/18</a:t>
            </a:r>
          </a:p>
        </p:txBody>
      </p:sp>
      <p:sp>
        <p:nvSpPr>
          <p:cNvPr id="127" name="Google Shape;127;p3"/>
          <p:cNvSpPr txBox="1">
            <a:spLocks noGrp="1"/>
          </p:cNvSpPr>
          <p:nvPr>
            <p:ph type="subTitle" idx="1"/>
          </p:nvPr>
        </p:nvSpPr>
        <p:spPr>
          <a:xfrm>
            <a:off x="1630756" y="1694743"/>
            <a:ext cx="7437246" cy="2434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_tradnl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Neuronales Artificiales </a:t>
            </a:r>
            <a:endParaRPr lang="es-ES_tradnl" dirty="0"/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_tradnl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aprendizaje incremental permite agregar nuevo conocimiento a un modelo sin la necesidad de entrenar el modelo con toda la información histórica.</a:t>
            </a:r>
            <a:endParaRPr lang="es-ES_tradnl" dirty="0"/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_tradnl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(</a:t>
            </a:r>
            <a:r>
              <a:rPr lang="es-ES_tradnl" sz="2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Bullinaria</a:t>
            </a:r>
            <a:r>
              <a:rPr lang="es-ES_tradnl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2009) se introduce el concepto de memoria a corto y largo plazo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622570" y="529824"/>
            <a:ext cx="920723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 General 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2400"/>
            </a:pPr>
            <a:r>
              <a:rPr lang="es-ES_tradnl" sz="2000" dirty="0">
                <a:latin typeface="Calibri"/>
                <a:ea typeface="Calibri"/>
                <a:cs typeface="Calibri"/>
                <a:sym typeface="Calibri"/>
              </a:rPr>
              <a:t>Diseñar una red neuronal artificial para aprendizaje incremental basada en el principio de la memoria a corto y largo plazo, buscando usar más de dos capas de pesos duplicados para el reconocimiento de dígitos, y</a:t>
            </a:r>
          </a:p>
          <a:p>
            <a:pPr lvl="0" algn="just">
              <a:buSzPts val="2400"/>
            </a:pPr>
            <a:r>
              <a:rPr lang="es-ES_tradnl" sz="2000" dirty="0">
                <a:latin typeface="Calibri"/>
                <a:ea typeface="Calibri"/>
                <a:cs typeface="Calibri"/>
                <a:sym typeface="Calibri"/>
              </a:rPr>
              <a:t>con una menor pérdida de información de trabajos previos.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 Particulares 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Implementar el algoritmo mostrado en (</a:t>
            </a:r>
            <a:r>
              <a:rPr lang="es-ES_tradnl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Bullinaria</a:t>
            </a: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2019)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Obtener el conjunto de datos de </a:t>
            </a:r>
            <a:r>
              <a:rPr lang="es-ES_tradnl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Optical</a:t>
            </a: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_tradnl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Digits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Separar el conjunto de entrenamiento y de prueba</a:t>
            </a:r>
            <a:endParaRPr lang="es-ES_tradnl" sz="2000" dirty="0"/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Tomar como base el algoritmo implementado y extenderlo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Comparar ambas implementaciones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4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subTitle" idx="1"/>
          </p:nvPr>
        </p:nvSpPr>
        <p:spPr>
          <a:xfrm>
            <a:off x="1376978" y="1484640"/>
            <a:ext cx="8224221" cy="73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 una sola neurona la cual tiene una función de activación</a:t>
            </a:r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Redes Neuronales Artificiales</a:t>
            </a:r>
            <a:endParaRPr lang="es-ES_tradnl" dirty="0"/>
          </a:p>
        </p:txBody>
      </p:sp>
      <p:pic>
        <p:nvPicPr>
          <p:cNvPr id="180" name="Google Shape;180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7400">
            <a:off x="2964960" y="2443320"/>
            <a:ext cx="4332960" cy="25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5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>
            <a:spLocks noGrp="1"/>
          </p:cNvSpPr>
          <p:nvPr>
            <p:ph type="subTitle" idx="1"/>
          </p:nvPr>
        </p:nvSpPr>
        <p:spPr>
          <a:xfrm>
            <a:off x="2246604" y="852565"/>
            <a:ext cx="6208907" cy="143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Contienen dos o mas capas, entrada y salida y una o mas ocultas, con funciones de activación</a:t>
            </a:r>
            <a:endParaRPr lang="es-ES_tradnl" dirty="0"/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>
            <a:spLocks noGrp="1"/>
          </p:cNvSpPr>
          <p:nvPr>
            <p:ph type="title"/>
          </p:nvPr>
        </p:nvSpPr>
        <p:spPr>
          <a:xfrm>
            <a:off x="826733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Redes Neuronales de Perceptrón Multicapa</a:t>
            </a:r>
            <a:endParaRPr lang="es-ES_tradnl" dirty="0"/>
          </a:p>
        </p:txBody>
      </p:sp>
      <p:pic>
        <p:nvPicPr>
          <p:cNvPr id="190" name="Google Shape;190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1835" y="2054711"/>
            <a:ext cx="5561704" cy="292948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s-ES_tradnl" dirty="0"/>
              <a:t>10 de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>
            <a:spLocks noGrp="1"/>
          </p:cNvSpPr>
          <p:nvPr>
            <p:ph type="title"/>
          </p:nvPr>
        </p:nvSpPr>
        <p:spPr>
          <a:xfrm>
            <a:off x="504360" y="2264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Algoritmo </a:t>
            </a:r>
            <a:r>
              <a:rPr lang="es-ES_tradnl" sz="2600" b="1" strike="noStrike" dirty="0" err="1">
                <a:latin typeface="Calibri"/>
                <a:ea typeface="Calibri"/>
                <a:cs typeface="Calibri"/>
                <a:sym typeface="Calibri"/>
              </a:rPr>
              <a:t>BackPropagation</a:t>
            </a:r>
            <a:endParaRPr lang="es-ES_tradnl" sz="2600" b="1" strike="noStrik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1205555" y="1142280"/>
            <a:ext cx="842592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que permite modificar el peso asignado a cada neurona</a:t>
            </a:r>
            <a:endParaRPr lang="es-ES_tradnl" dirty="0"/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5">
            <a:alphaModFix/>
          </a:blip>
          <a:srcRect r="679" b="25184"/>
          <a:stretch/>
        </p:blipFill>
        <p:spPr>
          <a:xfrm>
            <a:off x="2514600" y="2056680"/>
            <a:ext cx="5230906" cy="2812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s-ES_tradnl" dirty="0"/>
              <a:t>11 de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>
            <a:spLocks noGrp="1"/>
          </p:cNvSpPr>
          <p:nvPr>
            <p:ph type="subTitle" idx="1"/>
          </p:nvPr>
        </p:nvSpPr>
        <p:spPr>
          <a:xfrm>
            <a:off x="1791148" y="1692275"/>
            <a:ext cx="692254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tarea de aprendizaje es incremental si los ejemplos de entrenamiento usados para resolverla están disponibles en horas extras, generalmente uno a la vez (</a:t>
            </a:r>
            <a:r>
              <a:rPr lang="es-ES_tradnl" sz="2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Christophe</a:t>
            </a: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G. Giraud-Carrier, 2000)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504720" y="2268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Aprendizaje Incremental</a:t>
            </a:r>
            <a:endParaRPr lang="es-ES_tradnl" dirty="0"/>
          </a:p>
        </p:txBody>
      </p:sp>
      <p:sp>
        <p:nvSpPr>
          <p:cNvPr id="210" name="Google Shape;210;p12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8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 txBox="1">
            <a:spLocks noGrp="1"/>
          </p:cNvSpPr>
          <p:nvPr>
            <p:ph type="title"/>
          </p:nvPr>
        </p:nvSpPr>
        <p:spPr>
          <a:xfrm>
            <a:off x="504720" y="2268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Duplicación de matrices de pesos</a:t>
            </a:r>
            <a:endParaRPr lang="es-ES_tradnl" dirty="0"/>
          </a:p>
        </p:txBody>
      </p:sp>
      <p:sp>
        <p:nvSpPr>
          <p:cNvPr id="218" name="Google Shape;218;p13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9</a:t>
            </a:fld>
            <a:r>
              <a:rPr lang="es-ES_tradnl" dirty="0"/>
              <a:t> de 18</a:t>
            </a:r>
          </a:p>
        </p:txBody>
      </p:sp>
      <p:pic>
        <p:nvPicPr>
          <p:cNvPr id="219" name="Google Shape;21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4720" y="2154193"/>
            <a:ext cx="3778385" cy="203171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3"/>
          <p:cNvSpPr/>
          <p:nvPr/>
        </p:nvSpPr>
        <p:spPr>
          <a:xfrm>
            <a:off x="4582896" y="2795236"/>
            <a:ext cx="914400" cy="33950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0834" y="1154995"/>
            <a:ext cx="3111803" cy="163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0834" y="2908969"/>
            <a:ext cx="3111803" cy="1633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6820" y="786237"/>
            <a:ext cx="7535732" cy="3570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4"/>
          <p:cNvSpPr txBox="1">
            <a:spLocks noGrp="1"/>
          </p:cNvSpPr>
          <p:nvPr>
            <p:ph type="subTitle" idx="1"/>
          </p:nvPr>
        </p:nvSpPr>
        <p:spPr>
          <a:xfrm>
            <a:off x="504000" y="4215960"/>
            <a:ext cx="9325800" cy="76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Metodología de acumulación de datos </a:t>
            </a:r>
            <a:endParaRPr lang="es-ES_tradnl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Metodología de aprendizaje por conjuntos</a:t>
            </a:r>
            <a:endParaRPr lang="es-ES_tradnl" dirty="0"/>
          </a:p>
        </p:txBody>
      </p:sp>
      <p:pic>
        <p:nvPicPr>
          <p:cNvPr id="229" name="Google Shape;22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568547" y="118340"/>
            <a:ext cx="9071640" cy="591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1" strike="noStrike" dirty="0">
                <a:latin typeface="Calibri"/>
                <a:ea typeface="Calibri"/>
                <a:cs typeface="Calibri"/>
                <a:sym typeface="Calibri"/>
              </a:rPr>
              <a:t>Algoritmo de aprendizaje incremental</a:t>
            </a:r>
            <a:endParaRPr lang="es-ES_tradnl" dirty="0"/>
          </a:p>
        </p:txBody>
      </p:sp>
      <p:sp>
        <p:nvSpPr>
          <p:cNvPr id="232" name="Google Shape;232;p14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10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/>
          <p:nvPr/>
        </p:nvSpPr>
        <p:spPr>
          <a:xfrm>
            <a:off x="502919" y="1710926"/>
            <a:ext cx="825790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840" marR="0" lvl="0" indent="-2858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Recrear el código de </a:t>
            </a:r>
            <a:r>
              <a:rPr lang="es-ES_tradnl" sz="2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Bullinaria</a:t>
            </a: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 Python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Extender el código con mas de dos capas de pesos duplicados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Realizar una comparación de ambos resultados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4031429" y="398033"/>
            <a:ext cx="2971800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Metodología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11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C616AED2-486D-3FBE-5C9F-0A8170D6E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5207242D-5852-94BF-B39F-2748EBAD4A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7247E114-CCFF-C956-6BA4-C8B130FEB1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0C6DEF82-A2BA-ABBE-7BDD-21F9028A3A25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DD805024-8FC7-94B5-2743-0795D494A6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12</a:t>
            </a:fld>
            <a:r>
              <a:rPr lang="es-ES_tradnl" dirty="0"/>
              <a:t> de 18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15BB81-DD62-1545-E3D2-398837A53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985011"/>
              </p:ext>
            </p:extLst>
          </p:nvPr>
        </p:nvGraphicFramePr>
        <p:xfrm>
          <a:off x="503238" y="1721326"/>
          <a:ext cx="9072561" cy="2499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24187">
                  <a:extLst>
                    <a:ext uri="{9D8B030D-6E8A-4147-A177-3AD203B41FA5}">
                      <a16:colId xmlns:a16="http://schemas.microsoft.com/office/drawing/2014/main" val="3386588032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3017541942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3004297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Perfil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Propósito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91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Baseline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Entrenamiento incremental simple, sin mecanismos de memoria o retención.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Servir como referencia del comportamiento estándar.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84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Dual-Bullinaria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Recreación del protocolo de Bullinaria (2009), que introduce duplicación parcial de pesos para preservar información anterior.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Reducir el olvido catastrófico.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656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Dual-Bullinaria ×2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Extensión del perfil Dual con duplicación reforzada de pesos.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/>
                        <a:t>Aumentar</a:t>
                      </a:r>
                      <a:r>
                        <a:rPr lang="en-US" dirty="0"/>
                        <a:t> la </a:t>
                      </a:r>
                      <a:r>
                        <a:rPr lang="en-US" dirty="0" err="1"/>
                        <a:t>capacidad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memoria</a:t>
                      </a:r>
                      <a:r>
                        <a:rPr lang="en-US" dirty="0"/>
                        <a:t> y </a:t>
                      </a:r>
                      <a:r>
                        <a:rPr lang="en-US" dirty="0" err="1"/>
                        <a:t>retención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125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94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E45A79D7-4CAA-D538-96DA-4C04FF66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55295870-CEB1-A563-A7F3-F2D099314D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05645D21-1A59-ED62-10A1-FEF3614AC4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45E58E9C-1B14-7B24-0971-95E1EA8264C6}"/>
              </a:ext>
            </a:extLst>
          </p:cNvPr>
          <p:cNvSpPr/>
          <p:nvPr/>
        </p:nvSpPr>
        <p:spPr>
          <a:xfrm>
            <a:off x="1213038" y="917549"/>
            <a:ext cx="82579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/>
              <a:t>Olvido catastrófico</a:t>
            </a:r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DE386AC4-AB35-9E9D-313A-6DC389213A24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DF4705E5-B909-45B9-0273-9E96D8C438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13</a:t>
            </a:fld>
            <a:r>
              <a:rPr lang="es-ES_tradnl" dirty="0"/>
              <a:t> de 18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A36C958-22B0-C299-5919-6807D5CF5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73" y="1186920"/>
            <a:ext cx="4707683" cy="3530762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060AC8F5-99B3-7A23-F1B7-1CB72ABE3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69" y="1646391"/>
            <a:ext cx="430342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MX" altLang="en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Baseline: </a:t>
            </a:r>
            <a:r>
              <a:rPr kumimoji="0" lang="en-MX" altLang="en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 caída leve en la precisión de tareas anteriores.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MX" altLang="en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MX" altLang="en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Dual-Bullinaria: </a:t>
            </a:r>
            <a:r>
              <a:rPr kumimoji="0" lang="en-MX" altLang="en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mantiene una curva más estable, lo que indica </a:t>
            </a:r>
            <a:r>
              <a:rPr kumimoji="0" lang="en-MX" altLang="en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 retención de conocimiento.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MX" altLang="en-MX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MX" altLang="en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Dual-Bullinaria ×2: </a:t>
            </a:r>
            <a:r>
              <a:rPr kumimoji="0" lang="en-MX" altLang="en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refuerza la memoria, aunque con pequeñas fluctuaciones iniciales.</a:t>
            </a:r>
          </a:p>
        </p:txBody>
      </p:sp>
    </p:spTree>
    <p:extLst>
      <p:ext uri="{BB962C8B-B14F-4D97-AF65-F5344CB8AC3E}">
        <p14:creationId xmlns:p14="http://schemas.microsoft.com/office/powerpoint/2010/main" val="75433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27183DDC-A1AB-B3A4-3426-89165873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A1BA905F-4BDA-5987-C5A2-32A2B8A558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6D5522C8-37CB-A7F6-253D-52CA87AEDF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410E8657-3BBD-AA04-A873-32241F933E8C}"/>
              </a:ext>
            </a:extLst>
          </p:cNvPr>
          <p:cNvSpPr/>
          <p:nvPr/>
        </p:nvSpPr>
        <p:spPr>
          <a:xfrm>
            <a:off x="1213038" y="917549"/>
            <a:ext cx="82579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/>
              <a:t>Olvido catastrófico</a:t>
            </a:r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0B675683-0996-1F1C-ED51-1B84CE112730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858B6D6A-7BD7-0CD2-9E1C-6A859F7F76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14</a:t>
            </a:fld>
            <a:r>
              <a:rPr lang="es-ES_tradnl" dirty="0"/>
              <a:t> de 18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82AF8A8-0AB8-59F6-6BDC-3683449FE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69" y="2892885"/>
            <a:ext cx="43034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MX" altLang="en-MX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59AC02-1BBD-C839-159C-F6206587C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973801"/>
              </p:ext>
            </p:extLst>
          </p:nvPr>
        </p:nvGraphicFramePr>
        <p:xfrm>
          <a:off x="408562" y="2168065"/>
          <a:ext cx="9062380" cy="121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14006">
                  <a:extLst>
                    <a:ext uri="{9D8B030D-6E8A-4147-A177-3AD203B41FA5}">
                      <a16:colId xmlns:a16="http://schemas.microsoft.com/office/drawing/2014/main" val="3089562351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2286150392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1113026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/>
                        <a:t>Perfil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Retención (Prev Accuracy)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Observación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04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Baseline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Leve </a:t>
                      </a:r>
                      <a:r>
                        <a:rPr lang="en-US" dirty="0" err="1"/>
                        <a:t>caída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olvido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moderado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Sin mecanismo de memoria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088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Dual-Bullinaria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Estable (mínimo olvido)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Mejor retención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151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Dual×2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Fluctúa al inicio, luego estable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/>
                        <a:t>Refuerza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memoria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pero</a:t>
                      </a:r>
                      <a:r>
                        <a:rPr lang="en-US" dirty="0"/>
                        <a:t> cuesta </a:t>
                      </a:r>
                      <a:r>
                        <a:rPr lang="en-US" dirty="0" err="1"/>
                        <a:t>más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934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899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1F08716E-5495-A840-31EE-EAAA3D19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76C7AB77-424C-1D30-A58C-E7E19C2FEB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B1A1F566-FCE2-7897-19C4-5BA5E3C69A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A28F9A87-7DC4-E9BF-FA7B-FEA32C81E0E6}"/>
              </a:ext>
            </a:extLst>
          </p:cNvPr>
          <p:cNvSpPr/>
          <p:nvPr/>
        </p:nvSpPr>
        <p:spPr>
          <a:xfrm>
            <a:off x="1213038" y="917549"/>
            <a:ext cx="82579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/>
              <a:t>Comparativa de perfiles</a:t>
            </a:r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284A4AA1-59CB-C82E-4334-02E43CF443F1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727A8CB2-EEB8-2FDE-BC11-E2234142D1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15</a:t>
            </a:fld>
            <a:r>
              <a:rPr lang="es-ES_tradnl" dirty="0"/>
              <a:t> de 18</a:t>
            </a:r>
          </a:p>
        </p:txBody>
      </p:sp>
      <p:pic>
        <p:nvPicPr>
          <p:cNvPr id="5" name="Picture 4" descr="A graph with green blue and orange lines&#10;&#10;AI-generated content may be incorrect.">
            <a:extLst>
              <a:ext uri="{FF2B5EF4-FFF2-40B4-BE49-F238E27FC236}">
                <a16:creationId xmlns:a16="http://schemas.microsoft.com/office/drawing/2014/main" id="{90028A5C-F2BD-FF03-AC75-B13B3EF27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96" y="1308421"/>
            <a:ext cx="4592773" cy="3444580"/>
          </a:xfrm>
          <a:prstGeom prst="rect">
            <a:avLst/>
          </a:prstGeom>
        </p:spPr>
      </p:pic>
      <p:sp>
        <p:nvSpPr>
          <p:cNvPr id="6" name="Google Shape;239;p15">
            <a:extLst>
              <a:ext uri="{FF2B5EF4-FFF2-40B4-BE49-F238E27FC236}">
                <a16:creationId xmlns:a16="http://schemas.microsoft.com/office/drawing/2014/main" id="{DE68B005-1AA4-289B-34C7-EDBF4D4FF219}"/>
              </a:ext>
            </a:extLst>
          </p:cNvPr>
          <p:cNvSpPr/>
          <p:nvPr/>
        </p:nvSpPr>
        <p:spPr>
          <a:xfrm>
            <a:off x="447756" y="1642572"/>
            <a:ext cx="391023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 err="1"/>
              <a:t>Baseline</a:t>
            </a:r>
            <a:r>
              <a:rPr lang="es-ES_tradnl" sz="2400" dirty="0"/>
              <a:t>: es propensa al olvido</a:t>
            </a:r>
          </a:p>
          <a:p>
            <a:r>
              <a:rPr lang="es-ES_tradnl" sz="2400" dirty="0"/>
              <a:t>Dual: mejor equilibrio entre memoria y precisión </a:t>
            </a:r>
          </a:p>
          <a:p>
            <a:r>
              <a:rPr lang="es-ES_tradnl" sz="2400" dirty="0"/>
              <a:t>Dual x2: Memoriza mas y con una ligera perdida de adaptabilidad</a:t>
            </a:r>
          </a:p>
        </p:txBody>
      </p:sp>
    </p:spTree>
    <p:extLst>
      <p:ext uri="{BB962C8B-B14F-4D97-AF65-F5344CB8AC3E}">
        <p14:creationId xmlns:p14="http://schemas.microsoft.com/office/powerpoint/2010/main" val="2152598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1FA15E6D-41D7-EE8B-3C97-AAF90336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F88EFA36-BEED-06BC-4796-27A2489DCA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292319C7-9B79-EEBC-F6F1-4995EF97A4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47873482-245D-3488-65B5-D89373B96ED2}"/>
              </a:ext>
            </a:extLst>
          </p:cNvPr>
          <p:cNvSpPr/>
          <p:nvPr/>
        </p:nvSpPr>
        <p:spPr>
          <a:xfrm>
            <a:off x="1213038" y="917549"/>
            <a:ext cx="82579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/>
              <a:t>Comparativa de perfiles</a:t>
            </a:r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0F213EC5-825C-F378-7EF3-9FE2F1994264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9E14DF1D-3EAA-E722-A04D-4F4B8864F2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16</a:t>
            </a:fld>
            <a:r>
              <a:rPr lang="es-ES_tradnl" dirty="0"/>
              <a:t> de 18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AA18CD-193F-2954-68DE-6564286B1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906066"/>
              </p:ext>
            </p:extLst>
          </p:nvPr>
        </p:nvGraphicFramePr>
        <p:xfrm>
          <a:off x="503239" y="1507966"/>
          <a:ext cx="9072560" cy="2926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68140">
                  <a:extLst>
                    <a:ext uri="{9D8B030D-6E8A-4147-A177-3AD203B41FA5}">
                      <a16:colId xmlns:a16="http://schemas.microsoft.com/office/drawing/2014/main" val="1696911997"/>
                    </a:ext>
                  </a:extLst>
                </a:gridCol>
                <a:gridCol w="2268140">
                  <a:extLst>
                    <a:ext uri="{9D8B030D-6E8A-4147-A177-3AD203B41FA5}">
                      <a16:colId xmlns:a16="http://schemas.microsoft.com/office/drawing/2014/main" val="2810976092"/>
                    </a:ext>
                  </a:extLst>
                </a:gridCol>
                <a:gridCol w="2268140">
                  <a:extLst>
                    <a:ext uri="{9D8B030D-6E8A-4147-A177-3AD203B41FA5}">
                      <a16:colId xmlns:a16="http://schemas.microsoft.com/office/drawing/2014/main" val="2234686477"/>
                    </a:ext>
                  </a:extLst>
                </a:gridCol>
                <a:gridCol w="2268140">
                  <a:extLst>
                    <a:ext uri="{9D8B030D-6E8A-4147-A177-3AD203B41FA5}">
                      <a16:colId xmlns:a16="http://schemas.microsoft.com/office/drawing/2014/main" val="3549089230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Perfil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Comportamiento observado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Conclusión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0131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Baseline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Entrenamiento incremental simple sin mecanismos de retención.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Buen rendimiento global, pero propenso al olvido.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Sirve como referencia.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33653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Dual-Bullinaria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Implementa duplicación parcial de pesos para conservar conocimiento previo.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Curva estable en “Prev Accuracy” y rendimiento sostenido en “Test”.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/>
                        <a:t>Mejor </a:t>
                      </a:r>
                      <a:r>
                        <a:rPr lang="en-US" sz="1400" b="0" dirty="0" err="1"/>
                        <a:t>equilibrio</a:t>
                      </a:r>
                      <a:r>
                        <a:rPr lang="en-US" sz="1400" b="0" dirty="0"/>
                        <a:t> entre </a:t>
                      </a:r>
                      <a:r>
                        <a:rPr lang="en-US" sz="1400" b="0" dirty="0" err="1"/>
                        <a:t>memoria</a:t>
                      </a:r>
                      <a:r>
                        <a:rPr lang="en-US" sz="1400" b="0" dirty="0"/>
                        <a:t> y </a:t>
                      </a:r>
                      <a:r>
                        <a:rPr lang="en-US" sz="1400" b="0" dirty="0" err="1"/>
                        <a:t>precisión</a:t>
                      </a:r>
                      <a:r>
                        <a:rPr lang="en-US" sz="1400" b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46667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Dual-Bullinaria ×2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Refuerza la preservación de pesos (doble duplicación).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Mayor estabilidad, aunque con fluctuaciones iniciales y más costo.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 err="1"/>
                        <a:t>Memoriza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más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pero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menos</a:t>
                      </a:r>
                      <a:r>
                        <a:rPr lang="en-US" sz="1400" dirty="0"/>
                        <a:t> flexible.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482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671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7"/>
          <p:cNvSpPr/>
          <p:nvPr/>
        </p:nvSpPr>
        <p:spPr>
          <a:xfrm>
            <a:off x="2081142" y="381895"/>
            <a:ext cx="6108120" cy="67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Referencias 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803160" y="1371600"/>
            <a:ext cx="8569440" cy="3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John A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Bullinaria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Evolved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neural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facilitate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 IJCCI,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427–434, 2009.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Yuan Liu. Yuan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liu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neural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2015.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PR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Deshmukh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International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Management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3(4):119, 2013.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Christophe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G. Giraud-Carrier. A note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utility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AI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13:215–224, 2000.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17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800" y="-1440"/>
            <a:ext cx="5535720" cy="567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8640" y="0"/>
            <a:ext cx="2710080" cy="56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/>
          <p:nvPr/>
        </p:nvSpPr>
        <p:spPr>
          <a:xfrm>
            <a:off x="2517292" y="139849"/>
            <a:ext cx="7627256" cy="193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s-ES_tradnl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Aprendizaje Incremental para la Tarea de Reconocimiento</a:t>
            </a: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_tradnl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Dígitos con Redes Neuronales Artificiales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2611440" y="1355951"/>
            <a:ext cx="7393172" cy="271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lang="es-ES_tradnl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r e s e n t a</a:t>
            </a:r>
            <a:endParaRPr lang="es-ES_tradnl"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s-ES_tradnl" sz="2200" dirty="0">
                <a:latin typeface="Calibri"/>
                <a:ea typeface="Calibri"/>
                <a:cs typeface="Calibri"/>
                <a:sym typeface="Calibri"/>
              </a:rPr>
              <a:t>Ing</a:t>
            </a: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González Hernández Luis Ángel</a:t>
            </a: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Asesor: Dr. en C.C. Víctor Manuel </a:t>
            </a:r>
            <a:r>
              <a:rPr lang="es-ES_tradnl" sz="2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Landassuri</a:t>
            </a: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Moreno </a:t>
            </a: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2611440" y="5056097"/>
            <a:ext cx="7468560" cy="602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Atizapán de Zaragoza, Edo. de Méx. 08 de </a:t>
            </a:r>
            <a:r>
              <a:rPr lang="es-ES_tradnl" sz="1800" dirty="0">
                <a:latin typeface="Calibri"/>
                <a:ea typeface="Calibri"/>
                <a:cs typeface="Calibri"/>
                <a:sym typeface="Calibri"/>
              </a:rPr>
              <a:t>Octubre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2025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2612065" y="4227756"/>
            <a:ext cx="7468560" cy="50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lang="es-ES_tradnl" dirty="0"/>
          </a:p>
        </p:txBody>
      </p:sp>
      <p:pic>
        <p:nvPicPr>
          <p:cNvPr id="270" name="Google Shape;27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740" y="328500"/>
            <a:ext cx="1435320" cy="94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8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18</a:t>
            </a:fld>
            <a:endParaRPr lang="es-ES_tradn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811</Words>
  <Application>Microsoft Macintosh PowerPoint</Application>
  <PresentationFormat>Custom</PresentationFormat>
  <Paragraphs>148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Contenido</vt:lpstr>
      <vt:lpstr>Introducción</vt:lpstr>
      <vt:lpstr>PowerPoint Presentation</vt:lpstr>
      <vt:lpstr>Redes Neuronales Artificiales</vt:lpstr>
      <vt:lpstr>Redes Neuronales de Perceptrón Multicapa</vt:lpstr>
      <vt:lpstr>Algoritmo BackPropagation</vt:lpstr>
      <vt:lpstr>Aprendizaje Incremental</vt:lpstr>
      <vt:lpstr>Duplicación de matrices de pesos</vt:lpstr>
      <vt:lpstr>Algoritmo de aprendizaje incremental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Angel Gonzalez Hernandez</cp:lastModifiedBy>
  <cp:revision>3</cp:revision>
  <dcterms:created xsi:type="dcterms:W3CDTF">2022-11-08T19:43:34Z</dcterms:created>
  <dcterms:modified xsi:type="dcterms:W3CDTF">2025-10-08T15:52:29Z</dcterms:modified>
</cp:coreProperties>
</file>