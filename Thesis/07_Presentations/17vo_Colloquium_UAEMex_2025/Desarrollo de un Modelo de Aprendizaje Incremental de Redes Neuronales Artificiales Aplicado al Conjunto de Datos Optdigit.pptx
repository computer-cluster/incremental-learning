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4" r:id="rId12"/>
    <p:sldId id="268" r:id="rId13"/>
    <p:sldId id="269" r:id="rId14"/>
    <p:sldId id="270" r:id="rId15"/>
    <p:sldId id="271" r:id="rId16"/>
    <p:sldId id="272" r:id="rId17"/>
    <p:sldId id="273" r:id="rId18"/>
  </p:sldIdLst>
  <p:sldSz cx="10080625" cy="5670550"/>
  <p:notesSz cx="7772400" cy="100584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10" d="100"/>
          <a:sy n="110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EF06D-FC33-634B-B721-76142CCAC50A}" type="datetimeFigureOut">
              <a:rPr lang="en-MX" smtClean="0"/>
              <a:t>21/10/25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C98F-22EC-DB41-94F5-E1413C8D632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3311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C98F-22EC-DB41-94F5-E1413C8D6324}" type="slidenum">
              <a:rPr lang="en-MX" smtClean="0"/>
              <a:t>4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1833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33C965C-57F0-4EFA-8330-4D645A53DAC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MX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4FF14DA-8214-40E8-B1B6-F43962993D0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95F38C-8DB6-43CA-B485-86B3FBAACB3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3FC5A-F41C-4E11-94C4-8DAB70BC735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MX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207C22F-B5F1-4C30-BCFA-1088E25EF5D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287825A-E755-484E-9B53-2A67A06ECC5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ABDD420-482A-41AE-9A7A-D40DD99702E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70C2C9B-4B9F-49D1-8EF5-3E6815FE07D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FCC4EA0-3245-4EA0-AD5D-F3F37F97BBE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EC06DC0-852D-401A-BF90-458319EFDB1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5D7CA19-BAB1-4EB4-8CA7-5EA03982EFA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MX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s-MX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s-MX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182B3DC-6ABB-4873-B39D-0ECED351596B}" type="slidenum"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‹#›</a:t>
            </a:fld>
            <a:endParaRPr lang="es-MX" sz="1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s-MX" sz="1400" b="0" strike="noStrike" spc="-1">
                <a:latin typeface="Times New Roman"/>
              </a:defRPr>
            </a:lvl1pPr>
          </a:lstStyle>
          <a:p>
            <a:endParaRPr lang="es-MX" sz="1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03;p1"/>
          <p:cNvPicPr/>
          <p:nvPr/>
        </p:nvPicPr>
        <p:blipFill>
          <a:blip r:embed="rId2"/>
          <a:stretch/>
        </p:blipFill>
        <p:spPr>
          <a:xfrm>
            <a:off x="559800" y="-1440"/>
            <a:ext cx="5535360" cy="567108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104;p1"/>
          <p:cNvPicPr/>
          <p:nvPr/>
        </p:nvPicPr>
        <p:blipFill>
          <a:blip r:embed="rId3"/>
          <a:stretch/>
        </p:blipFill>
        <p:spPr>
          <a:xfrm>
            <a:off x="-98640" y="0"/>
            <a:ext cx="2709720" cy="566964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105;p1"/>
          <p:cNvSpPr/>
          <p:nvPr/>
        </p:nvSpPr>
        <p:spPr>
          <a:xfrm>
            <a:off x="2517120" y="139680"/>
            <a:ext cx="7626960" cy="19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b="1" dirty="0"/>
              <a:t>Desarrollo de un Modelo de Aprendizaje Incremental de Redes Neuronales Artificiales Aplicado al Conjunto de Datos Optdigit</a:t>
            </a:r>
            <a:br>
              <a:rPr lang="es-ES" dirty="0"/>
            </a:br>
            <a:endParaRPr lang="es-MX" sz="2400" b="0" strike="noStrike" spc="-1" dirty="0">
              <a:latin typeface="Arial"/>
            </a:endParaRPr>
          </a:p>
        </p:txBody>
      </p:sp>
      <p:sp>
        <p:nvSpPr>
          <p:cNvPr id="44" name="Google Shape;106;p1"/>
          <p:cNvSpPr/>
          <p:nvPr/>
        </p:nvSpPr>
        <p:spPr>
          <a:xfrm>
            <a:off x="2611440" y="1356120"/>
            <a:ext cx="7392960" cy="27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 r e s e n t a</a:t>
            </a:r>
            <a:endParaRPr lang="es-MX" sz="23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Ing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. González Hernández Luis Ángel</a:t>
            </a: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Asesor: Dr. en C.C. Víctor Manuel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Landassuri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Moreno </a:t>
            </a:r>
            <a:endParaRPr lang="es-MX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</p:txBody>
      </p:sp>
      <p:sp>
        <p:nvSpPr>
          <p:cNvPr id="45" name="Google Shape;107;p1"/>
          <p:cNvSpPr/>
          <p:nvPr/>
        </p:nvSpPr>
        <p:spPr>
          <a:xfrm>
            <a:off x="2611440" y="5056200"/>
            <a:ext cx="74682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8000"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Atizapán de Zaragoza, Edo. de Méx. </a:t>
            </a: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21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de Octubre de 2025</a:t>
            </a:r>
            <a:endParaRPr lang="es-MX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</p:txBody>
      </p:sp>
      <p:sp>
        <p:nvSpPr>
          <p:cNvPr id="46" name="Google Shape;108;p1"/>
          <p:cNvSpPr/>
          <p:nvPr/>
        </p:nvSpPr>
        <p:spPr>
          <a:xfrm>
            <a:off x="2612160" y="4227840"/>
            <a:ext cx="746820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17</a:t>
            </a:r>
            <a:r>
              <a:rPr lang="es-E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vo</a:t>
            </a: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 Coloquio de Investigación en Ciencia y Tecnología</a:t>
            </a:r>
            <a:endParaRPr lang="es-MX" sz="2000" b="0" strike="noStrike" spc="-1" dirty="0">
              <a:latin typeface="Arial"/>
            </a:endParaRPr>
          </a:p>
        </p:txBody>
      </p:sp>
      <p:pic>
        <p:nvPicPr>
          <p:cNvPr id="47" name="Google Shape;109;p1"/>
          <p:cNvPicPr/>
          <p:nvPr/>
        </p:nvPicPr>
        <p:blipFill>
          <a:blip r:embed="rId4"/>
          <a:stretch/>
        </p:blipFill>
        <p:spPr>
          <a:xfrm>
            <a:off x="538920" y="328680"/>
            <a:ext cx="1434960" cy="946800"/>
          </a:xfrm>
          <a:prstGeom prst="rect">
            <a:avLst/>
          </a:prstGeom>
          <a:ln w="0"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DA5B09-9F9F-354F-48F9-C6E08C589C83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rPr lang="en-MX" smtClean="0"/>
              <a:t>1</a:t>
            </a:fld>
            <a:endParaRPr lang="en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14;p2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49" name="Google Shape;115;p2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97080" y="1368720"/>
            <a:ext cx="9535320" cy="355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2" spcCol="0" anchor="ctr">
            <a:noAutofit/>
          </a:bodyPr>
          <a:lstStyle/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Introducción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Planteamiento del problema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General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Hipótesis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Justificación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Delimitación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Redes Neuronales Artificiales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Redes Neuronales de Perceptrón Multicapa</a:t>
            </a: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ES" sz="2000" b="0" strike="noStrike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spc="-1" dirty="0" err="1">
                <a:solidFill>
                  <a:srgbClr val="000000"/>
                </a:solidFill>
                <a:latin typeface="Calibri"/>
                <a:ea typeface="Calibri"/>
              </a:rPr>
              <a:t>Backpropagation</a:t>
            </a:r>
            <a:endParaRPr lang="es-MX" sz="2000" spc="-1" dirty="0">
              <a:solidFill>
                <a:srgbClr val="000000"/>
              </a:solidFill>
              <a:latin typeface="Arial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Aprendizaje Incremental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Algoritmo de aprendizaje incremental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Metodología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Cronograma de Actividades</a:t>
            </a:r>
            <a:endParaRPr lang="es-MX" sz="2000" b="0" strike="noStrike" spc="-1" dirty="0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Contenido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4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2/16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23;p3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54" name="Google Shape;124;p3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Introducción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47531CE-AB55-41FF-9208-B4EB47D505E2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ubTitle"/>
          </p:nvPr>
        </p:nvSpPr>
        <p:spPr>
          <a:xfrm>
            <a:off x="1630800" y="1694880"/>
            <a:ext cx="7436880" cy="243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200" b="0" strike="noStrike" spc="-1">
                <a:solidFill>
                  <a:srgbClr val="000000"/>
                </a:solidFill>
                <a:latin typeface="Arial"/>
                <a:ea typeface="Arial"/>
              </a:rPr>
              <a:t>Redes Neuronales Artificiales </a:t>
            </a:r>
            <a:endParaRPr lang="es-MX" sz="22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endParaRPr lang="es-MX" sz="2200" b="0" strike="noStrike" spc="-1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200" b="0" strike="noStrike" spc="-1">
                <a:solidFill>
                  <a:srgbClr val="000000"/>
                </a:solidFill>
                <a:latin typeface="Arial"/>
                <a:ea typeface="Arial"/>
              </a:rPr>
              <a:t>El aprendizaje incremental permite agregar nuevo conocimiento a un modelo sin la necesidad de entrenar a este con toda la información histórica.</a:t>
            </a:r>
            <a:endParaRPr lang="es-MX" sz="22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endParaRPr lang="es-MX" sz="2200" b="0" strike="noStrike" spc="-1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200" b="0" strike="noStrike" spc="-1">
                <a:solidFill>
                  <a:srgbClr val="000000"/>
                </a:solidFill>
                <a:latin typeface="Arial"/>
                <a:ea typeface="Arial"/>
              </a:rPr>
              <a:t>En (Bullinaria, 20</a:t>
            </a: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Arial"/>
              </a:rPr>
              <a:t>0</a:t>
            </a:r>
            <a:r>
              <a:rPr lang="es-ES" sz="2200" b="0" strike="noStrike" spc="-1">
                <a:solidFill>
                  <a:srgbClr val="000000"/>
                </a:solidFill>
                <a:latin typeface="Arial"/>
                <a:ea typeface="Arial"/>
              </a:rPr>
              <a:t>9) se introduce el concepto de memoria a corto y largo plazo</a:t>
            </a:r>
            <a:endParaRPr lang="es-MX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203767" y="1799640"/>
            <a:ext cx="7920073" cy="26450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El aprendizaje incremental 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Memoria a corto plazo 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	- Tasa de aprendizaje alta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Memoria a largo plazo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	- Tasa de aprendizaje pequeña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Trabajo previo (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Bullinaria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2009) se implementó el uso de duplicar los pesos, pero aún existe perdida de datos</a:t>
            </a:r>
            <a:endParaRPr lang="es-MX" sz="2400" b="0" strike="noStrike" spc="-1" dirty="0">
              <a:latin typeface="Arial"/>
            </a:endParaRPr>
          </a:p>
        </p:txBody>
      </p:sp>
      <p:pic>
        <p:nvPicPr>
          <p:cNvPr id="59" name="Google Shape;133;p4"/>
          <p:cNvPicPr/>
          <p:nvPr/>
        </p:nvPicPr>
        <p:blipFill>
          <a:blip r:embed="rId3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60" name="Google Shape;134;p4"/>
          <p:cNvPicPr/>
          <p:nvPr/>
        </p:nvPicPr>
        <p:blipFill>
          <a:blip r:embed="rId4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Planteamiento del Problema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D0060A3-8A5B-4F84-9F76-C245384F212D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41;p5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72" name="Google Shape;142;p5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143;p5"/>
          <p:cNvSpPr/>
          <p:nvPr/>
        </p:nvSpPr>
        <p:spPr>
          <a:xfrm>
            <a:off x="1581120" y="455760"/>
            <a:ext cx="8248320" cy="447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Objetivo General </a:t>
            </a:r>
            <a:endParaRPr lang="es-MX" sz="2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Diseñar una red neuronal artificial para aprendizaje incremental basada en el principio de la memoria a corto y largo plazo usando mas de dos matrices de pesos. </a:t>
            </a:r>
            <a:endParaRPr lang="es-MX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Objetivo Particulares </a:t>
            </a:r>
            <a:endParaRPr lang="es-MX" sz="2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5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Implementar el algoritmo mostrado en (Bullinaria, 2009)</a:t>
            </a:r>
            <a:endParaRPr lang="es-MX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Obtener el conjunto de datos de Optical Digits</a:t>
            </a:r>
            <a:endParaRPr lang="es-MX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Separar el conjunto de entrenamiento y de prueba</a:t>
            </a:r>
            <a:endParaRPr lang="es-MX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Tomar como base el algoritmo implementado y extenderlo</a:t>
            </a:r>
            <a:endParaRPr lang="es-MX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Comparar ambas implementaciones</a:t>
            </a:r>
            <a:endParaRPr lang="es-MX" sz="2400" b="0" strike="noStrike" spc="-1"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424212C-5A70-43C1-B3B7-0124794E4E62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49;p6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76" name="Google Shape;150;p6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77" name="Google Shape;151;p6"/>
          <p:cNvSpPr/>
          <p:nvPr/>
        </p:nvSpPr>
        <p:spPr>
          <a:xfrm>
            <a:off x="1986120" y="402840"/>
            <a:ext cx="6107760" cy="67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Hipótesis </a:t>
            </a:r>
            <a:endParaRPr lang="es-MX" sz="2600" b="0" strike="noStrike" spc="-1">
              <a:latin typeface="Arial"/>
            </a:endParaRPr>
          </a:p>
        </p:txBody>
      </p:sp>
      <p:sp>
        <p:nvSpPr>
          <p:cNvPr id="78" name="Google Shape;152;p6"/>
          <p:cNvSpPr/>
          <p:nvPr/>
        </p:nvSpPr>
        <p:spPr>
          <a:xfrm>
            <a:off x="1312560" y="1763280"/>
            <a:ext cx="7669800" cy="2031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inclusión</a:t>
            </a:r>
            <a:r>
              <a:rPr lang="en-US" dirty="0"/>
              <a:t> de </a:t>
            </a:r>
            <a:r>
              <a:rPr lang="en-US" dirty="0" err="1"/>
              <a:t>más</a:t>
            </a:r>
            <a:r>
              <a:rPr lang="en-US" dirty="0"/>
              <a:t> de dos </a:t>
            </a:r>
            <a:r>
              <a:rPr lang="en-US" dirty="0" err="1"/>
              <a:t>capas</a:t>
            </a:r>
            <a:r>
              <a:rPr lang="en-US" dirty="0"/>
              <a:t> de pesos </a:t>
            </a:r>
            <a:r>
              <a:rPr lang="en-US" dirty="0" err="1"/>
              <a:t>duplicados</a:t>
            </a:r>
            <a:r>
              <a:rPr lang="en-US" dirty="0"/>
              <a:t>,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con sus </a:t>
            </a:r>
            <a:r>
              <a:rPr lang="en-US" dirty="0" err="1"/>
              <a:t>respectivas</a:t>
            </a:r>
            <a:r>
              <a:rPr lang="en-US" dirty="0"/>
              <a:t> </a:t>
            </a:r>
            <a:r>
              <a:rPr lang="en-US" dirty="0" err="1"/>
              <a:t>tasas</a:t>
            </a:r>
            <a:r>
              <a:rPr lang="en-US" dirty="0"/>
              <a:t> de </a:t>
            </a:r>
            <a:r>
              <a:rPr lang="en-US" dirty="0" err="1"/>
              <a:t>aprendizaje</a:t>
            </a:r>
            <a:r>
              <a:rPr lang="en-US" dirty="0"/>
              <a:t>,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reducir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olvido</a:t>
            </a:r>
            <a:r>
              <a:rPr lang="en-US" dirty="0"/>
              <a:t> de la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previamente</a:t>
            </a:r>
            <a:r>
              <a:rPr lang="en-US" dirty="0"/>
              <a:t> </a:t>
            </a:r>
            <a:r>
              <a:rPr lang="en-US" dirty="0" err="1"/>
              <a:t>aprendida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aprendizaje</a:t>
            </a:r>
            <a:r>
              <a:rPr lang="en-US" dirty="0"/>
              <a:t> incremental </a:t>
            </a:r>
            <a:r>
              <a:rPr lang="en-US" dirty="0" err="1"/>
              <a:t>utilizando</a:t>
            </a:r>
            <a:r>
              <a:rPr lang="en-US" dirty="0"/>
              <a:t> redes </a:t>
            </a:r>
            <a:r>
              <a:rPr lang="en-US" dirty="0" err="1"/>
              <a:t>neuronales</a:t>
            </a:r>
            <a:r>
              <a:rPr lang="en-US" dirty="0"/>
              <a:t> </a:t>
            </a:r>
            <a:r>
              <a:rPr lang="en-US" dirty="0" err="1"/>
              <a:t>artificiales</a:t>
            </a:r>
            <a:r>
              <a:rPr lang="en-US" dirty="0"/>
              <a:t> del </a:t>
            </a:r>
            <a:r>
              <a:rPr lang="en-US" dirty="0" err="1"/>
              <a:t>tipo</a:t>
            </a:r>
            <a:r>
              <a:rPr lang="en-US" dirty="0"/>
              <a:t> MLP, </a:t>
            </a:r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aplica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de Backpropagation.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79" name="PlaceHolder 1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5E84D77-4C16-4FC3-8370-FC3F9AF9C282}" type="slidenum"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fld>
            <a:r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/18</a:t>
            </a:r>
            <a:endParaRPr lang="es-MX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247760" y="1473840"/>
            <a:ext cx="8154000" cy="177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Tener un menor olvido al aplicar el principio del aprendizaje incremental.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 usa Python debido a que se puede usar con 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PyTorch</a:t>
            </a:r>
            <a:r>
              <a:rPr lang="es-E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.</a:t>
            </a:r>
            <a:endParaRPr lang="es-MX" sz="2400" b="0" strike="noStrike" spc="-1" dirty="0">
              <a:latin typeface="Arial"/>
            </a:endParaRPr>
          </a:p>
        </p:txBody>
      </p:sp>
      <p:pic>
        <p:nvPicPr>
          <p:cNvPr id="81" name="Google Shape;159;p7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82" name="Google Shape;160;p7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Justificación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0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C26A495-BBE0-4B15-A704-05BB44C6E803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85" name="Picture 2" descr="Python-Symbol - Armadillo Amarillo"/>
          <p:cNvPicPr/>
          <p:nvPr/>
        </p:nvPicPr>
        <p:blipFill>
          <a:blip r:embed="rId4"/>
          <a:srcRect l="25180" r="20778"/>
          <a:stretch/>
        </p:blipFill>
        <p:spPr>
          <a:xfrm>
            <a:off x="2284560" y="3328920"/>
            <a:ext cx="1362240" cy="1418400"/>
          </a:xfrm>
          <a:prstGeom prst="rect">
            <a:avLst/>
          </a:prstGeom>
          <a:ln w="0">
            <a:noFill/>
          </a:ln>
        </p:spPr>
      </p:pic>
      <p:pic>
        <p:nvPicPr>
          <p:cNvPr id="1028" name="Picture 4" descr="Deep Learning: Introduction to PyTorch | by Pedro Torres Perez ...">
            <a:extLst>
              <a:ext uri="{FF2B5EF4-FFF2-40B4-BE49-F238E27FC236}">
                <a16:creationId xmlns:a16="http://schemas.microsoft.com/office/drawing/2014/main" id="{27ED948D-A7AA-093D-A8B6-07046CB9A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982" y="3366957"/>
            <a:ext cx="2885630" cy="130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1689120" y="2097720"/>
            <a:ext cx="7390080" cy="16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Se utilizará redes neuronales del tipo perceptrón multicapa</a:t>
            </a:r>
            <a:endParaRPr lang="es-MX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Se limitará a explorar la mejora en rendimiento al tener mas de dos matrices duplicadas de pesos en la red con aprendizaje incremental</a:t>
            </a:r>
            <a:endParaRPr lang="es-MX" sz="2400" b="0" strike="noStrike" spc="-1">
              <a:latin typeface="Arial"/>
            </a:endParaRPr>
          </a:p>
        </p:txBody>
      </p:sp>
      <p:pic>
        <p:nvPicPr>
          <p:cNvPr id="88" name="Google Shape;168;p8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89" name="Google Shape;169;p8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504000" y="46260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Delimitación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1BD6E60-B011-4863-B6DF-2224EF2CF566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1377000" y="1484640"/>
            <a:ext cx="8223840" cy="73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Contiene una sola neurona la cual tiene una función de activación</a:t>
            </a:r>
            <a:endParaRPr lang="es-MX" sz="2400" b="0" strike="noStrike" spc="-1">
              <a:latin typeface="Arial"/>
            </a:endParaRPr>
          </a:p>
        </p:txBody>
      </p:sp>
      <p:pic>
        <p:nvPicPr>
          <p:cNvPr id="93" name="Google Shape;177;p9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178;p9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Redes Neuronales Artificiales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231E5F3-1D07-4322-8CFD-B88751E6FCC8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97" name="Picture 96"/>
          <p:cNvPicPr/>
          <p:nvPr/>
        </p:nvPicPr>
        <p:blipFill>
          <a:blip r:embed="rId4"/>
          <a:stretch/>
        </p:blipFill>
        <p:spPr>
          <a:xfrm>
            <a:off x="2700000" y="2160000"/>
            <a:ext cx="4764240" cy="2615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2246760" y="852480"/>
            <a:ext cx="6208560" cy="14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Contienen dos o mas capas, entrada y salida y una o mas ocultas, con funciones de activación</a:t>
            </a:r>
            <a:endParaRPr lang="es-MX" sz="2400" b="0" strike="noStrike" spc="-1">
              <a:latin typeface="Arial"/>
            </a:endParaRPr>
          </a:p>
        </p:txBody>
      </p:sp>
      <p:pic>
        <p:nvPicPr>
          <p:cNvPr id="99" name="Google Shape;187;p10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88;p10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82656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Redes Neuronales de Perceptrón Multicapa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Google Shape;190;p10"/>
          <p:cNvPicPr/>
          <p:nvPr/>
        </p:nvPicPr>
        <p:blipFill>
          <a:blip r:embed="rId4"/>
          <a:stretch/>
        </p:blipFill>
        <p:spPr>
          <a:xfrm>
            <a:off x="2581920" y="2054880"/>
            <a:ext cx="5561280" cy="292896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3"/>
          <p:cNvSpPr>
            <a:spLocks noGrp="1"/>
          </p:cNvSpPr>
          <p:nvPr>
            <p:ph type="sldNum" idx="1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10/16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922CB-B4A6-20F2-5523-2C450599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87;p10">
            <a:extLst>
              <a:ext uri="{FF2B5EF4-FFF2-40B4-BE49-F238E27FC236}">
                <a16:creationId xmlns:a16="http://schemas.microsoft.com/office/drawing/2014/main" id="{6CC09C89-BA85-9E31-6F2B-DD767C98ABE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88;p10">
            <a:extLst>
              <a:ext uri="{FF2B5EF4-FFF2-40B4-BE49-F238E27FC236}">
                <a16:creationId xmlns:a16="http://schemas.microsoft.com/office/drawing/2014/main" id="{E7062BD9-501A-A1E8-F077-0844A1DFC5A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2">
            <a:extLst>
              <a:ext uri="{FF2B5EF4-FFF2-40B4-BE49-F238E27FC236}">
                <a16:creationId xmlns:a16="http://schemas.microsoft.com/office/drawing/2014/main" id="{0E1A5462-A290-E806-0AEB-D9BB33D5D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56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Backpropagation</a:t>
            </a:r>
            <a:endParaRPr lang="es-MX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>
            <a:extLst>
              <a:ext uri="{FF2B5EF4-FFF2-40B4-BE49-F238E27FC236}">
                <a16:creationId xmlns:a16="http://schemas.microsoft.com/office/drawing/2014/main" id="{8CC3B4B7-95B1-BB52-8B4C-B3689FA35599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10/16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6B0BE10E-5B75-6A3A-4C85-BDB7C6382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0" b="25983"/>
          <a:stretch>
            <a:fillRect/>
          </a:stretch>
        </p:blipFill>
        <p:spPr>
          <a:xfrm>
            <a:off x="5567424" y="1235365"/>
            <a:ext cx="4025490" cy="29893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80D7C8-E6A4-9364-DCE7-5748A8BE057D}"/>
              </a:ext>
            </a:extLst>
          </p:cNvPr>
          <p:cNvSpPr txBox="1"/>
          <p:nvPr/>
        </p:nvSpPr>
        <p:spPr>
          <a:xfrm>
            <a:off x="185195" y="1746934"/>
            <a:ext cx="4855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 un </a:t>
            </a:r>
            <a:r>
              <a:rPr lang="en-US" dirty="0" err="1"/>
              <a:t>algoritmo</a:t>
            </a:r>
            <a:r>
              <a:rPr lang="en-US" dirty="0"/>
              <a:t> fundamental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entrenamiento</a:t>
            </a:r>
            <a:r>
              <a:rPr lang="en-US" dirty="0"/>
              <a:t> de redes </a:t>
            </a:r>
            <a:r>
              <a:rPr lang="en-US" dirty="0" err="1"/>
              <a:t>neuronales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Después</a:t>
            </a:r>
            <a:r>
              <a:rPr lang="en-US" dirty="0"/>
              <a:t> de </a:t>
            </a:r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error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salida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 error se </a:t>
            </a:r>
            <a:r>
              <a:rPr lang="en-US" dirty="0" err="1"/>
              <a:t>propaga</a:t>
            </a:r>
            <a:r>
              <a:rPr lang="en-US" dirty="0"/>
              <a:t> a </a:t>
            </a:r>
            <a:r>
              <a:rPr lang="en-US" dirty="0" err="1"/>
              <a:t>través</a:t>
            </a:r>
            <a:r>
              <a:rPr lang="en-US" dirty="0"/>
              <a:t> de la red para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actualizar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pesos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descenso</a:t>
            </a:r>
            <a:r>
              <a:rPr lang="en-US" dirty="0"/>
              <a:t> de </a:t>
            </a:r>
            <a:r>
              <a:rPr lang="en-US" dirty="0" err="1"/>
              <a:t>gradiente</a:t>
            </a:r>
            <a:r>
              <a:rPr lang="en-US" dirty="0"/>
              <a:t>.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2247522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1791000" y="1692360"/>
            <a:ext cx="6922080" cy="228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2400" dirty="0"/>
              <a:t>Una </a:t>
            </a:r>
            <a:r>
              <a:rPr lang="en-US" sz="2400" dirty="0" err="1"/>
              <a:t>tarea</a:t>
            </a:r>
            <a:r>
              <a:rPr lang="en-US" sz="2400" dirty="0"/>
              <a:t> de </a:t>
            </a:r>
            <a:r>
              <a:rPr lang="en-US" sz="2400" dirty="0" err="1"/>
              <a:t>aprendizaje</a:t>
            </a:r>
            <a:r>
              <a:rPr lang="en-US" sz="2400" dirty="0"/>
              <a:t> es incremental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ejemplos</a:t>
            </a:r>
            <a:r>
              <a:rPr lang="en-US" sz="2400" dirty="0"/>
              <a:t> de </a:t>
            </a:r>
            <a:r>
              <a:rPr lang="en-US" sz="2400" dirty="0" err="1"/>
              <a:t>entrenamiento</a:t>
            </a:r>
            <a:r>
              <a:rPr lang="en-US" sz="2400" dirty="0"/>
              <a:t> </a:t>
            </a:r>
            <a:r>
              <a:rPr lang="en-US" sz="2400" dirty="0" err="1"/>
              <a:t>utilizados</a:t>
            </a:r>
            <a:r>
              <a:rPr lang="en-US" sz="2400" dirty="0"/>
              <a:t> para </a:t>
            </a:r>
            <a:r>
              <a:rPr lang="en-US" sz="2400" dirty="0" err="1"/>
              <a:t>resolverla</a:t>
            </a:r>
            <a:r>
              <a:rPr lang="en-US" sz="2400" dirty="0"/>
              <a:t> se </a:t>
            </a:r>
            <a:r>
              <a:rPr lang="en-US" sz="2400" dirty="0" err="1"/>
              <a:t>presentan</a:t>
            </a:r>
            <a:r>
              <a:rPr lang="en-US" sz="2400" dirty="0"/>
              <a:t> </a:t>
            </a:r>
            <a:r>
              <a:rPr lang="en-US" sz="2400" dirty="0" err="1"/>
              <a:t>gradualmente</a:t>
            </a:r>
            <a:r>
              <a:rPr lang="en-US" sz="2400" dirty="0"/>
              <a:t> a lo largo del </a:t>
            </a:r>
            <a:r>
              <a:rPr lang="en-US" sz="2400" dirty="0" err="1"/>
              <a:t>tiempo</a:t>
            </a:r>
            <a:r>
              <a:rPr lang="en-US" sz="2400" dirty="0"/>
              <a:t>, </a:t>
            </a:r>
            <a:r>
              <a:rPr lang="en-US" sz="2400" dirty="0" err="1"/>
              <a:t>usualmente</a:t>
            </a:r>
            <a:r>
              <a:rPr lang="en-US" sz="2400" dirty="0"/>
              <a:t> uno a la </a:t>
            </a:r>
            <a:r>
              <a:rPr lang="en-US" sz="2400" dirty="0" err="1"/>
              <a:t>vez</a:t>
            </a:r>
            <a:r>
              <a:rPr lang="en-US" sz="2400" dirty="0"/>
              <a:t> (Giraud-Carrier, 2000).</a:t>
            </a:r>
            <a:endParaRPr lang="es-MX" sz="2400" b="0" strike="noStrike" spc="-1" dirty="0">
              <a:latin typeface="Arial"/>
            </a:endParaRPr>
          </a:p>
        </p:txBody>
      </p:sp>
      <p:pic>
        <p:nvPicPr>
          <p:cNvPr id="111" name="Google Shape;207;p12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12" name="Google Shape;208;p12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504720" y="22680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Aprendizaje Incremental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15"/>
          </p:nvPr>
        </p:nvSpPr>
        <p:spPr>
          <a:xfrm>
            <a:off x="7236152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07914DE-3B9D-4539-8206-426EA04F608B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29;p14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18" name="Google Shape;230;p14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2"/>
          <p:cNvSpPr>
            <a:spLocks noGrp="1"/>
          </p:cNvSpPr>
          <p:nvPr>
            <p:ph type="title"/>
          </p:nvPr>
        </p:nvSpPr>
        <p:spPr>
          <a:xfrm>
            <a:off x="568440" y="118440"/>
            <a:ext cx="9071280" cy="59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Algoritmo de aprendizaje incremental</a:t>
            </a:r>
            <a:endParaRPr lang="es-MX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57813AA-4B81-488D-BB56-61607AD110CD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13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6D2B78D-ECE7-580D-49A7-D2E0809BC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1608" y="845893"/>
            <a:ext cx="2475890" cy="2475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X"/>
          </a:p>
        </p:txBody>
      </p:sp>
      <p:pic>
        <p:nvPicPr>
          <p:cNvPr id="5" name="Picture 4" descr="A diagram of a model&#10;&#10;AI-generated content may be incorrect.">
            <a:extLst>
              <a:ext uri="{FF2B5EF4-FFF2-40B4-BE49-F238E27FC236}">
                <a16:creationId xmlns:a16="http://schemas.microsoft.com/office/drawing/2014/main" id="{183EA341-A0F6-D547-AA1E-9D22F138D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332" y="1059625"/>
            <a:ext cx="4214435" cy="2809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1AD511-EDC8-A664-C1E8-5F94A91C5C92}"/>
              </a:ext>
            </a:extLst>
          </p:cNvPr>
          <p:cNvSpPr txBox="1"/>
          <p:nvPr/>
        </p:nvSpPr>
        <p:spPr>
          <a:xfrm>
            <a:off x="681962" y="1365061"/>
            <a:ext cx="40408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Este </a:t>
            </a:r>
            <a:r>
              <a:rPr lang="en-US" dirty="0" err="1"/>
              <a:t>esquema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proceso</a:t>
            </a:r>
            <a:r>
              <a:rPr lang="en-US" dirty="0"/>
              <a:t> </a:t>
            </a:r>
            <a:r>
              <a:rPr lang="en-US" dirty="0" err="1"/>
              <a:t>propuesto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i="1" dirty="0" err="1"/>
              <a:t>Bullinaria</a:t>
            </a:r>
            <a:r>
              <a:rPr lang="en-US" i="1" dirty="0"/>
              <a:t> (2009)</a:t>
            </a:r>
            <a:r>
              <a:rPr lang="en-US" dirty="0"/>
              <a:t>. 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enfoque</a:t>
            </a:r>
            <a:r>
              <a:rPr lang="en-US" dirty="0"/>
              <a:t>, </a:t>
            </a:r>
            <a:r>
              <a:rPr lang="en-US" dirty="0" err="1"/>
              <a:t>cada</a:t>
            </a:r>
            <a:r>
              <a:rPr lang="en-US" dirty="0"/>
              <a:t> nuevo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hereda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pesos del </a:t>
            </a:r>
            <a:r>
              <a:rPr lang="en-US" dirty="0" err="1"/>
              <a:t>modelo</a:t>
            </a:r>
            <a:r>
              <a:rPr lang="en-US" dirty="0"/>
              <a:t> anterior, </a:t>
            </a:r>
            <a:r>
              <a:rPr lang="en-US" dirty="0" err="1"/>
              <a:t>permitiendo</a:t>
            </a:r>
            <a:r>
              <a:rPr lang="en-US" dirty="0"/>
              <a:t> </a:t>
            </a:r>
            <a:r>
              <a:rPr lang="en-US" dirty="0" err="1"/>
              <a:t>conservar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previamente</a:t>
            </a:r>
            <a:r>
              <a:rPr lang="en-US" dirty="0"/>
              <a:t> </a:t>
            </a:r>
            <a:r>
              <a:rPr lang="en-US" dirty="0" err="1"/>
              <a:t>adquirido</a:t>
            </a:r>
            <a:r>
              <a:rPr lang="en-US" dirty="0"/>
              <a:t>. </a:t>
            </a:r>
            <a:r>
              <a:rPr lang="en-US" dirty="0" err="1"/>
              <a:t>Posteriormente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se </a:t>
            </a:r>
            <a:r>
              <a:rPr lang="en-US" dirty="0" err="1"/>
              <a:t>ajusta</a:t>
            </a:r>
            <a:r>
              <a:rPr lang="en-US" dirty="0"/>
              <a:t> o </a:t>
            </a:r>
            <a:r>
              <a:rPr lang="en-US" dirty="0" err="1"/>
              <a:t>entrena</a:t>
            </a:r>
            <a:r>
              <a:rPr lang="en-US" dirty="0"/>
              <a:t> con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, Esta </a:t>
            </a:r>
            <a:r>
              <a:rPr lang="en-US" dirty="0" err="1"/>
              <a:t>metodología</a:t>
            </a:r>
            <a:r>
              <a:rPr lang="en-US" dirty="0"/>
              <a:t> </a:t>
            </a:r>
            <a:r>
              <a:rPr lang="en-US" dirty="0" err="1"/>
              <a:t>busca</a:t>
            </a:r>
            <a:r>
              <a:rPr lang="en-US" dirty="0"/>
              <a:t> </a:t>
            </a:r>
            <a:r>
              <a:rPr lang="en-US" dirty="0" err="1"/>
              <a:t>reducir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olvido</a:t>
            </a:r>
            <a:r>
              <a:rPr lang="en-US" dirty="0"/>
              <a:t> </a:t>
            </a:r>
            <a:r>
              <a:rPr lang="en-US" dirty="0" err="1"/>
              <a:t>catastrófico</a:t>
            </a:r>
            <a:r>
              <a:rPr lang="en-US" b="1" dirty="0"/>
              <a:t>.</a:t>
            </a:r>
            <a:endParaRPr lang="en-MX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37;p15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238;p15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239;p15"/>
          <p:cNvSpPr/>
          <p:nvPr/>
        </p:nvSpPr>
        <p:spPr>
          <a:xfrm>
            <a:off x="922320" y="1915200"/>
            <a:ext cx="856548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Recrear el código de Bullinaria en Python</a:t>
            </a:r>
            <a:endParaRPr lang="es-MX" sz="24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400" b="0" strike="noStrike" spc="-1">
              <a:latin typeface="Arial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Extender el código con mas de dos matrices de pesos duplicados</a:t>
            </a:r>
            <a:endParaRPr lang="es-MX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Realizar una comparación de ambos resultados</a:t>
            </a:r>
            <a:endParaRPr lang="es-MX" sz="2400" b="0" strike="noStrike" spc="-1">
              <a:latin typeface="Arial"/>
            </a:endParaRPr>
          </a:p>
        </p:txBody>
      </p:sp>
      <p:sp>
        <p:nvSpPr>
          <p:cNvPr id="124" name="Google Shape;240;p15"/>
          <p:cNvSpPr/>
          <p:nvPr/>
        </p:nvSpPr>
        <p:spPr>
          <a:xfrm>
            <a:off x="4031280" y="398160"/>
            <a:ext cx="2971440" cy="6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Metodología </a:t>
            </a:r>
            <a:endParaRPr lang="es-MX" sz="2600" b="0" strike="noStrike" spc="-1"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AAF4C53-206A-432B-85F3-585E33D2ACC4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246;p16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247;p16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248;p16"/>
          <p:cNvSpPr/>
          <p:nvPr/>
        </p:nvSpPr>
        <p:spPr>
          <a:xfrm>
            <a:off x="1136855" y="129875"/>
            <a:ext cx="866690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2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Cronograma de </a:t>
            </a:r>
            <a:endParaRPr lang="es-MX" sz="2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Actividades </a:t>
            </a:r>
            <a:endParaRPr lang="es-MX" sz="2600" b="0" strike="noStrike" spc="-1" dirty="0"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D6A1D08-52D5-4D10-BA1E-CF311FF8B82C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65F54-DFD1-5AEE-F98F-E7FE77764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43" y="1813994"/>
            <a:ext cx="9740537" cy="16681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255;p17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32" name="Google Shape;256;p17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33" name="Google Shape;257;p17"/>
          <p:cNvSpPr/>
          <p:nvPr/>
        </p:nvSpPr>
        <p:spPr>
          <a:xfrm>
            <a:off x="2081160" y="381960"/>
            <a:ext cx="6107760" cy="67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Referencias </a:t>
            </a:r>
            <a:endParaRPr lang="es-MX" sz="2600" b="0" strike="noStrike" spc="-1">
              <a:latin typeface="Arial"/>
            </a:endParaRPr>
          </a:p>
        </p:txBody>
      </p:sp>
      <p:sp>
        <p:nvSpPr>
          <p:cNvPr id="134" name="Google Shape;258;p17"/>
          <p:cNvSpPr/>
          <p:nvPr/>
        </p:nvSpPr>
        <p:spPr>
          <a:xfrm>
            <a:off x="803160" y="1371600"/>
            <a:ext cx="856908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John A Bullinaria. Evolved dual weight neural architectures to facilitate incremental learning. In IJCCI, pages 427–434, 2009.</a:t>
            </a: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Yuan Liu. Yuan liu incremental learning in deep neural networks. 2015.</a:t>
            </a: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RR Ade and PR Deshmukh. Methods for incremental learning: a survey. International Journal of Data Mining &amp; Knowledge Management Process, 3(4):119, 2013.</a:t>
            </a: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Christophe G. Giraud-Carrier. A note on the utility of incremental learning. AI Commun. 13:215–224, 2000.</a:t>
            </a: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800" b="0" strike="noStrike" spc="-1"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sldNum" idx="1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15/16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264;p18"/>
          <p:cNvPicPr/>
          <p:nvPr/>
        </p:nvPicPr>
        <p:blipFill>
          <a:blip r:embed="rId2"/>
          <a:stretch/>
        </p:blipFill>
        <p:spPr>
          <a:xfrm>
            <a:off x="559800" y="-1440"/>
            <a:ext cx="5535360" cy="5671080"/>
          </a:xfrm>
          <a:prstGeom prst="rect">
            <a:avLst/>
          </a:prstGeom>
          <a:ln w="0">
            <a:noFill/>
          </a:ln>
        </p:spPr>
      </p:pic>
      <p:pic>
        <p:nvPicPr>
          <p:cNvPr id="137" name="Google Shape;265;p18"/>
          <p:cNvPicPr/>
          <p:nvPr/>
        </p:nvPicPr>
        <p:blipFill>
          <a:blip r:embed="rId3"/>
          <a:stretch/>
        </p:blipFill>
        <p:spPr>
          <a:xfrm>
            <a:off x="-98640" y="0"/>
            <a:ext cx="2709720" cy="5669640"/>
          </a:xfrm>
          <a:prstGeom prst="rect">
            <a:avLst/>
          </a:prstGeom>
          <a:ln w="0">
            <a:noFill/>
          </a:ln>
        </p:spPr>
      </p:pic>
      <p:sp>
        <p:nvSpPr>
          <p:cNvPr id="138" name="Google Shape;266;p18"/>
          <p:cNvSpPr/>
          <p:nvPr/>
        </p:nvSpPr>
        <p:spPr>
          <a:xfrm>
            <a:off x="2517120" y="139680"/>
            <a:ext cx="7626960" cy="19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b="1" dirty="0"/>
              <a:t>Desarrollo de un Modelo de Aprendizaje Incremental de Redes Neuronales Artificiales Aplicado al Conjunto de Datos Optdigit</a:t>
            </a:r>
            <a:br>
              <a:rPr lang="es-ES" dirty="0"/>
            </a:br>
            <a:endParaRPr lang="es-MX" sz="2400" b="0" strike="noStrike" spc="-1" dirty="0">
              <a:latin typeface="Arial"/>
            </a:endParaRPr>
          </a:p>
        </p:txBody>
      </p:sp>
      <p:sp>
        <p:nvSpPr>
          <p:cNvPr id="139" name="Google Shape;267;p18"/>
          <p:cNvSpPr/>
          <p:nvPr/>
        </p:nvSpPr>
        <p:spPr>
          <a:xfrm>
            <a:off x="2611440" y="1356120"/>
            <a:ext cx="7392960" cy="27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 r e s e n t a</a:t>
            </a:r>
            <a:endParaRPr lang="es-MX" sz="23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Ing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. González Hernández Luis Ángel</a:t>
            </a: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Asesor: Dr. en C.C. Víctor Manuel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Landassuri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Moreno </a:t>
            </a:r>
            <a:endParaRPr lang="es-MX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</p:txBody>
      </p:sp>
      <p:sp>
        <p:nvSpPr>
          <p:cNvPr id="140" name="Google Shape;268;p18"/>
          <p:cNvSpPr/>
          <p:nvPr/>
        </p:nvSpPr>
        <p:spPr>
          <a:xfrm>
            <a:off x="2611440" y="5056200"/>
            <a:ext cx="74682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8000"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Atizapán de Zaragoza, Edo. de Méx. </a:t>
            </a: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21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de </a:t>
            </a: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Octubre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de 2025</a:t>
            </a:r>
            <a:endParaRPr lang="es-MX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</p:txBody>
      </p:sp>
      <p:sp>
        <p:nvSpPr>
          <p:cNvPr id="141" name="Google Shape;269;p18"/>
          <p:cNvSpPr/>
          <p:nvPr/>
        </p:nvSpPr>
        <p:spPr>
          <a:xfrm>
            <a:off x="2612160" y="4227840"/>
            <a:ext cx="746820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17</a:t>
            </a:r>
            <a:r>
              <a:rPr lang="es-E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vo</a:t>
            </a: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 Coloquio de Investigación en Ciencia y Tecnología</a:t>
            </a:r>
            <a:endParaRPr lang="es-MX" sz="2000" b="0" strike="noStrike" spc="-1" dirty="0">
              <a:latin typeface="Arial"/>
            </a:endParaRPr>
          </a:p>
        </p:txBody>
      </p:sp>
      <p:pic>
        <p:nvPicPr>
          <p:cNvPr id="142" name="Google Shape;270;p18"/>
          <p:cNvPicPr/>
          <p:nvPr/>
        </p:nvPicPr>
        <p:blipFill>
          <a:blip r:embed="rId4"/>
          <a:stretch/>
        </p:blipFill>
        <p:spPr>
          <a:xfrm>
            <a:off x="538920" y="328680"/>
            <a:ext cx="1434960" cy="946800"/>
          </a:xfrm>
          <a:prstGeom prst="rect">
            <a:avLst/>
          </a:prstGeom>
          <a:ln w="0"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B97FF-AE70-9A06-F3A5-5340E8EF32D2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rPr lang="en-MX" smtClean="0"/>
              <a:t>17</a:t>
            </a:fld>
            <a:endParaRPr lang="en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740</Words>
  <Application>Microsoft Macintosh PowerPoint</Application>
  <PresentationFormat>Custom</PresentationFormat>
  <Paragraphs>125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Contenido</vt:lpstr>
      <vt:lpstr>Introducción</vt:lpstr>
      <vt:lpstr>Planteamiento del Problema</vt:lpstr>
      <vt:lpstr>PowerPoint Presentation</vt:lpstr>
      <vt:lpstr>PowerPoint Presentation</vt:lpstr>
      <vt:lpstr>Justificación</vt:lpstr>
      <vt:lpstr>Delimitación</vt:lpstr>
      <vt:lpstr>Redes Neuronales Artificiales</vt:lpstr>
      <vt:lpstr>Redes Neuronales de Perceptrón Multicapa</vt:lpstr>
      <vt:lpstr>Backpropagation</vt:lpstr>
      <vt:lpstr>Aprendizaje Incremental</vt:lpstr>
      <vt:lpstr>Algoritmo de aprendizaje incremental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Luis Angel Gonzalez Hernandez</cp:lastModifiedBy>
  <cp:revision>10</cp:revision>
  <dcterms:created xsi:type="dcterms:W3CDTF">2022-11-08T19:43:34Z</dcterms:created>
  <dcterms:modified xsi:type="dcterms:W3CDTF">2025-10-22T05:30:03Z</dcterms:modified>
  <dc:language>es-MX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Personalizado</vt:lpwstr>
  </property>
  <property fmtid="{D5CDD505-2E9C-101B-9397-08002B2CF9AE}" pid="4" name="Slides">
    <vt:i4>18</vt:i4>
  </property>
</Properties>
</file>